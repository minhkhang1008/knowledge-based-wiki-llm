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9"/>
  </p:handoutMasterIdLst>
  <p:sldIdLst>
    <p:sldId id="261" r:id="rId2"/>
    <p:sldId id="257" r:id="rId3"/>
    <p:sldId id="265" r:id="rId4"/>
    <p:sldId id="266" r:id="rId5"/>
    <p:sldId id="267" r:id="rId6"/>
    <p:sldId id="272" r:id="rId7"/>
    <p:sldId id="268" r:id="rId8"/>
    <p:sldId id="274" r:id="rId9"/>
    <p:sldId id="275" r:id="rId10"/>
    <p:sldId id="276" r:id="rId11"/>
    <p:sldId id="277" r:id="rId12"/>
    <p:sldId id="280" r:id="rId13"/>
    <p:sldId id="278" r:id="rId14"/>
    <p:sldId id="279" r:id="rId15"/>
    <p:sldId id="262" r:id="rId16"/>
    <p:sldId id="264"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E1E1E1"/>
    <a:srgbClr val="032B91"/>
    <a:srgbClr val="ADADAD"/>
    <a:srgbClr val="3B4F82"/>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97" d="100"/>
          <a:sy n="97" d="100"/>
        </p:scale>
        <p:origin x="103" y="29"/>
      </p:cViewPr>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91D260D-D23B-4B1D-8BD2-8BFEA8E8CCE0}" type="datetimeFigureOut">
              <a:rPr lang="en-US" smtClean="0"/>
              <a:t>6/29/2026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D592E9-6DA4-4CD8-ACCF-38E0BAD5D3D6}"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www.facebook.com/groups/PIFCourse" TargetMode="External"/><Relationship Id="rId5" Type="http://schemas.openxmlformats.org/officeDocument/2006/relationships/hyperlink" Target="https://www.facebook.com/payitforward.edu.vn?__cft__%5b0%5d=AZUygmoumYNqFyaesXh-3jXyioaKyXZ7Qin2bosjOimBInbhFtME0gNhS4cGLsnOpmQCEj-fa8Vh5dRsJcVWr5w0_D5iQZtJCa8irliF_GuduzwP8MR1gz4_nSJQ7ytbYD-fL7wG6jh0UpFcj6M0h2BDtoua3kM1CHF-qlxOlzsIWVJaM5NrnZ1gcVEOaWA63ktJ2pwySHuS8J87v5MMmXQM&amp;__tn__=-%5dK-R" TargetMode="External"/><Relationship Id="rId4" Type="http://schemas.openxmlformats.org/officeDocument/2006/relationships/hyperlink" Target="https://www.forum.payitforward.edu.vn/"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9200" cy="1080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400" cy="10800"/>
            </a:xfrm>
            <a:prstGeom prst="rect">
              <a:avLst/>
            </a:prstGeom>
          </p:spPr>
        </p:pic>
        <p:sp>
          <p:nvSpPr>
            <p:cNvPr id="5" name="Hình chữ nhật 4"/>
            <p:cNvSpPr/>
            <p:nvPr userDrawn="1"/>
          </p:nvSpPr>
          <p:spPr>
            <a:xfrm>
              <a:off x="6354" y="0"/>
              <a:ext cx="12846" cy="10800"/>
            </a:xfrm>
            <a:prstGeom prst="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4035349" y="2266088"/>
            <a:ext cx="7615311" cy="2325060"/>
          </a:xfrm>
        </p:spPr>
        <p:txBody>
          <a:bodyPr anchor="ctr">
            <a:normAutofit/>
          </a:bodyPr>
          <a:lstStyle>
            <a:lvl1pPr algn="r">
              <a:defRPr sz="6000" baseline="0">
                <a:solidFill>
                  <a:schemeClr val="tx1"/>
                </a:solidFill>
                <a:latin typeface="+mj-lt"/>
              </a:defRPr>
            </a:lvl1pPr>
          </a:lstStyle>
          <a:p>
            <a:r>
              <a:rPr lang="en-US" dirty="0"/>
              <a:t>YOUR TITLE GOES HERE</a:t>
            </a:r>
          </a:p>
        </p:txBody>
      </p:sp>
      <p:sp>
        <p:nvSpPr>
          <p:cNvPr id="3" name="Subtitle 2"/>
          <p:cNvSpPr>
            <a:spLocks noGrp="1"/>
          </p:cNvSpPr>
          <p:nvPr>
            <p:ph type="subTitle" idx="1" hasCustomPrompt="1"/>
          </p:nvPr>
        </p:nvSpPr>
        <p:spPr>
          <a:xfrm>
            <a:off x="6834505" y="4753610"/>
            <a:ext cx="4815840" cy="500380"/>
          </a:xfrm>
        </p:spPr>
        <p:txBody>
          <a:bodyPr/>
          <a:lstStyle>
            <a:lvl1pPr marL="0" indent="0" algn="r">
              <a:buNone/>
              <a:defRPr sz="24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Credit goes here…</a:t>
            </a:r>
          </a:p>
        </p:txBody>
      </p:sp>
      <p:sp>
        <p:nvSpPr>
          <p:cNvPr id="14" name="Slide Number Placeholder 6"/>
          <p:cNvSpPr>
            <a:spLocks noGrp="1"/>
          </p:cNvSpPr>
          <p:nvPr userDrawn="1"/>
        </p:nvSpPr>
        <p:spPr>
          <a:xfrm>
            <a:off x="0" y="6523355"/>
            <a:ext cx="1905000" cy="33401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b="1" dirty="0">
                <a:solidFill>
                  <a:schemeClr val="tx1"/>
                </a:solidFill>
                <a:latin typeface="Arial" panose="020B0604020202020204" pitchFamily="34" charset="0"/>
                <a:cs typeface="Arial" panose="020B0604020202020204" pitchFamily="34" charset="0"/>
              </a:rPr>
              <a:t>© 2026 - PIFClub</a:t>
            </a:r>
          </a:p>
        </p:txBody>
      </p:sp>
      <p:sp>
        <p:nvSpPr>
          <p:cNvPr id="15" name="Slide Number Placeholder 6"/>
          <p:cNvSpPr>
            <a:spLocks noGrp="1"/>
          </p:cNvSpPr>
          <p:nvPr userDrawn="1"/>
        </p:nvSpPr>
        <p:spPr>
          <a:xfrm>
            <a:off x="10287000" y="6523990"/>
            <a:ext cx="1905000" cy="3143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tx1"/>
                </a:solidFill>
                <a:latin typeface="Roboto" charset="0"/>
                <a:cs typeface="Roboto" charset="0"/>
              </a:rPr>
              <a:t>                          External</a:t>
            </a:r>
            <a:r>
              <a:rPr lang="en-US" sz="1600" b="1" dirty="0">
                <a:solidFill>
                  <a:schemeClr val="tx1"/>
                </a:solidFill>
                <a:latin typeface="Roboto" charset="0"/>
                <a:cs typeface="Roboto" charset="0"/>
              </a:rPr>
              <a:t> </a:t>
            </a:r>
            <a:endParaRPr lang="en-US" sz="1600" b="1" dirty="0">
              <a:solidFill>
                <a:schemeClr val="tx1"/>
              </a:solidFill>
              <a:latin typeface="Roboto" charset="0"/>
              <a:cs typeface="Roboto" charset="0"/>
              <a:sym typeface="+mn-ea"/>
            </a:endParaRPr>
          </a:p>
        </p:txBody>
      </p:sp>
      <p:sp>
        <p:nvSpPr>
          <p:cNvPr id="10" name="Text Placeholder 9"/>
          <p:cNvSpPr>
            <a:spLocks noGrp="1"/>
          </p:cNvSpPr>
          <p:nvPr>
            <p:ph type="body" sz="quarter" idx="10" hasCustomPrompt="1"/>
          </p:nvPr>
        </p:nvSpPr>
        <p:spPr>
          <a:xfrm>
            <a:off x="409576" y="4754245"/>
            <a:ext cx="3376930" cy="500381"/>
          </a:xfrm>
        </p:spPr>
        <p:txBody>
          <a:bodyPr/>
          <a:lstStyle>
            <a:lvl1pPr marL="0" indent="0" algn="ctr">
              <a:buNone/>
              <a:defRPr b="1">
                <a:latin typeface="Roboto" charset="0"/>
                <a:ea typeface="Roboto" charset="0"/>
              </a:defRPr>
            </a:lvl1pPr>
          </a:lstStyle>
          <a:p>
            <a:pPr lvl="0"/>
            <a:r>
              <a:rPr lang="en-US" dirty="0"/>
              <a:t>Course...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445" y="1297305"/>
            <a:ext cx="11663045" cy="4721860"/>
          </a:xfrm>
        </p:spPr>
        <p:txBody>
          <a:bodyPr/>
          <a:lstStyle>
            <a:lvl1pPr>
              <a:lnSpc>
                <a:spcPct val="100000"/>
              </a:lnSpc>
              <a:defRPr>
                <a:latin typeface="+mj-lt"/>
              </a:defRPr>
            </a:lvl1pPr>
            <a:lvl2pPr marL="457200" indent="-228600">
              <a:lnSpc>
                <a:spcPct val="100000"/>
              </a:lnSpc>
              <a:buFont typeface="Arial" panose="020B0604020202020204" pitchFamily="34" charset="0"/>
              <a:buChar char="•"/>
              <a:defRPr sz="2200">
                <a:latin typeface="+mj-lt"/>
              </a:defRPr>
            </a:lvl2pPr>
            <a:lvl3pPr marL="742950" indent="-285750">
              <a:lnSpc>
                <a:spcPct val="100000"/>
              </a:lnSpc>
              <a:buFont typeface="Arial" panose="020B0604020202020204" pitchFamily="34" charset="0"/>
              <a:buChar char="•"/>
              <a:defRPr sz="2000">
                <a:latin typeface="+mj-lt"/>
              </a:defRPr>
            </a:lvl3pPr>
            <a:lvl4pPr marL="1043940" indent="-285750" eaLnBrk="1" fontAlgn="auto" latinLnBrk="0" hangingPunct="1">
              <a:lnSpc>
                <a:spcPct val="100000"/>
              </a:lnSpc>
              <a:buFont typeface="Arial" panose="020B0604020202020204" pitchFamily="34" charset="0"/>
              <a:buChar char="•"/>
              <a:defRPr sz="1800">
                <a:latin typeface="+mj-lt"/>
              </a:defRPr>
            </a:lvl4pPr>
            <a:lvl5pPr marL="1332230" indent="-285750" eaLnBrk="1" fontAlgn="auto" latinLnBrk="0" hangingPunct="1">
              <a:lnSpc>
                <a:spcPct val="100000"/>
              </a:lnSpc>
              <a:buFont typeface="Arial" panose="020B0604020202020204" pitchFamily="34" charset="0"/>
              <a:buChar cha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1" name="Straight Arrow Connector 10"/>
          <p:cNvCxnSpPr/>
          <p:nvPr userDrawn="1"/>
        </p:nvCxnSpPr>
        <p:spPr>
          <a:xfrm flipV="1">
            <a:off x="259080" y="970280"/>
            <a:ext cx="11661140" cy="6350"/>
          </a:xfrm>
          <a:prstGeom prst="straightConnector1">
            <a:avLst/>
          </a:prstGeom>
          <a:ln w="38100" cap="rnd">
            <a:solidFill>
              <a:srgbClr val="032B91"/>
            </a:solidFill>
            <a:round/>
            <a:headEnd type="diamond" w="med" len="med"/>
            <a:tailEnd type="diamond" w="med" len="med"/>
          </a:ln>
        </p:spPr>
        <p:style>
          <a:lnRef idx="0">
            <a:srgbClr val="FFFFFF"/>
          </a:lnRef>
          <a:fillRef idx="0">
            <a:srgbClr val="FFFFFF"/>
          </a:fillRef>
          <a:effectRef idx="0">
            <a:srgbClr val="FFFFFF"/>
          </a:effectRef>
          <a:fontRef idx="minor">
            <a:schemeClr val="tx1"/>
          </a:fontRef>
        </p:style>
      </p:cxnSp>
      <p:sp>
        <p:nvSpPr>
          <p:cNvPr id="8" name="Title 7"/>
          <p:cNvSpPr>
            <a:spLocks noGrp="1"/>
          </p:cNvSpPr>
          <p:nvPr>
            <p:ph type="title"/>
          </p:nvPr>
        </p:nvSpPr>
        <p:spPr>
          <a:xfrm>
            <a:off x="259080" y="322580"/>
            <a:ext cx="11662410" cy="461010"/>
          </a:xfrm>
        </p:spPr>
        <p:txBody>
          <a:bodyPr>
            <a:noAutofit/>
          </a:bodyPr>
          <a:lstStyle>
            <a:lvl1pPr>
              <a:defRPr>
                <a:solidFill>
                  <a:srgbClr val="3B4F82"/>
                </a:solidFill>
              </a:defRPr>
            </a:lvl1pPr>
          </a:lstStyle>
          <a:p>
            <a:pPr algn="l"/>
            <a:endParaRPr lang="en-US" dirty="0">
              <a:solidFill>
                <a:srgbClr val="032B91"/>
              </a:solidFill>
              <a:ea typeface="UD Digi Kyokasho NK-B" panose="020B0400000000000000" pitchFamily="18" charset="-128"/>
              <a:cs typeface="+mj-lt"/>
            </a:endParaRPr>
          </a:p>
        </p:txBody>
      </p:sp>
      <p:sp>
        <p:nvSpPr>
          <p:cNvPr id="12" name="Slide Number Placeholder 6"/>
          <p:cNvSpPr>
            <a:spLocks noGrp="1"/>
          </p:cNvSpPr>
          <p:nvPr userDrawn="1"/>
        </p:nvSpPr>
        <p:spPr>
          <a:xfrm>
            <a:off x="5137150" y="6593205"/>
            <a:ext cx="1905000" cy="26479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90000"/>
              </a:lnSpc>
            </a:pPr>
            <a:fld id="{9C5BEA5F-45C3-4BB6-A590-5A9FB25E3428}" type="slidenum">
              <a:rPr lang="en-US" b="1" smtClean="0">
                <a:solidFill>
                  <a:schemeClr val="bg1"/>
                </a:solidFill>
                <a:latin typeface="Roboto" charset="0"/>
                <a:cs typeface="Roboto" charset="0"/>
              </a:rPr>
              <a:t>‹#›</a:t>
            </a:fld>
            <a:endParaRPr lang="en-US" b="1" dirty="0">
              <a:solidFill>
                <a:schemeClr val="bg1"/>
              </a:solidFill>
              <a:latin typeface="Roboto" charset="0"/>
              <a:cs typeface="Roboto"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ong tin lien h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1" name="Straight Arrow Connector 10"/>
          <p:cNvCxnSpPr/>
          <p:nvPr userDrawn="1"/>
        </p:nvCxnSpPr>
        <p:spPr>
          <a:xfrm flipV="1">
            <a:off x="259080" y="970280"/>
            <a:ext cx="11661140" cy="6350"/>
          </a:xfrm>
          <a:prstGeom prst="straightConnector1">
            <a:avLst/>
          </a:prstGeom>
          <a:ln w="38100" cap="rnd">
            <a:solidFill>
              <a:srgbClr val="032B91"/>
            </a:solidFill>
            <a:round/>
            <a:headEnd type="diamond" w="med" len="med"/>
            <a:tailEnd type="diamond" w="med" len="med"/>
          </a:ln>
        </p:spPr>
        <p:style>
          <a:lnRef idx="0">
            <a:srgbClr val="FFFFFF"/>
          </a:lnRef>
          <a:fillRef idx="0">
            <a:srgbClr val="FFFFFF"/>
          </a:fillRef>
          <a:effectRef idx="0">
            <a:srgbClr val="FFFFFF"/>
          </a:effectRef>
          <a:fontRef idx="minor">
            <a:schemeClr val="tx1"/>
          </a:fontRef>
        </p:style>
      </p:cxnSp>
      <p:sp>
        <p:nvSpPr>
          <p:cNvPr id="12" name="Slide Number Placeholder 6"/>
          <p:cNvSpPr>
            <a:spLocks noGrp="1"/>
          </p:cNvSpPr>
          <p:nvPr userDrawn="1"/>
        </p:nvSpPr>
        <p:spPr>
          <a:xfrm>
            <a:off x="5137150" y="6593205"/>
            <a:ext cx="1905000" cy="26479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90000"/>
              </a:lnSpc>
            </a:pPr>
            <a:fld id="{9C5BEA5F-45C3-4BB6-A590-5A9FB25E3428}" type="slidenum">
              <a:rPr lang="en-US" b="1" smtClean="0">
                <a:solidFill>
                  <a:schemeClr val="bg1"/>
                </a:solidFill>
                <a:latin typeface="Roboto" charset="0"/>
                <a:cs typeface="Roboto" charset="0"/>
              </a:rPr>
              <a:t>‹#›</a:t>
            </a:fld>
            <a:endParaRPr lang="en-US" b="1" dirty="0">
              <a:solidFill>
                <a:schemeClr val="bg1"/>
              </a:solidFill>
              <a:latin typeface="Roboto" charset="0"/>
              <a:cs typeface="Roboto" charset="0"/>
            </a:endParaRPr>
          </a:p>
        </p:txBody>
      </p:sp>
      <p:pic>
        <p:nvPicPr>
          <p:cNvPr id="1026" name="Picture 2" desc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8444" y="413772"/>
            <a:ext cx="387598" cy="38759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userDrawn="1"/>
        </p:nvSpPr>
        <p:spPr>
          <a:xfrm>
            <a:off x="646042" y="237490"/>
            <a:ext cx="9755258" cy="707886"/>
          </a:xfrm>
          <a:prstGeom prst="rect">
            <a:avLst/>
          </a:prstGeom>
          <a:noFill/>
        </p:spPr>
        <p:txBody>
          <a:bodyPr wrap="square" rtlCol="0">
            <a:spAutoFit/>
          </a:bodyPr>
          <a:lstStyle/>
          <a:p>
            <a:r>
              <a:rPr lang="en-US" sz="4000" b="1" dirty="0">
                <a:solidFill>
                  <a:srgbClr val="032B91"/>
                </a:solidFill>
                <a:latin typeface="+mj-lt"/>
              </a:rPr>
              <a:t>About us</a:t>
            </a:r>
          </a:p>
        </p:txBody>
      </p:sp>
      <p:sp>
        <p:nvSpPr>
          <p:cNvPr id="4" name="Content Placeholder 7">
            <a:extLst>
              <a:ext uri="{FF2B5EF4-FFF2-40B4-BE49-F238E27FC236}">
                <a16:creationId xmlns:a16="http://schemas.microsoft.com/office/drawing/2014/main" id="{0EE0C9A3-1D4D-F154-0627-B731F9D43763}"/>
              </a:ext>
            </a:extLst>
          </p:cNvPr>
          <p:cNvSpPr txBox="1"/>
          <p:nvPr userDrawn="1"/>
        </p:nvSpPr>
        <p:spPr>
          <a:xfrm>
            <a:off x="3612285" y="1258296"/>
            <a:ext cx="8307935" cy="186309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j-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j-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j-lt"/>
                <a:ea typeface="+mn-ea"/>
                <a:cs typeface="+mn-cs"/>
              </a:defRPr>
            </a:lvl3pPr>
            <a:lvl4pPr marL="1043940" indent="-285750" algn="l" defTabSz="914400" rtl="0" eaLnBrk="1" fontAlgn="auto" latinLnBrk="0" hangingPunct="1">
              <a:lnSpc>
                <a:spcPct val="100000"/>
              </a:lnSpc>
              <a:spcBef>
                <a:spcPts val="500"/>
              </a:spcBef>
              <a:buFont typeface="Arial" panose="020B0604020202020204" pitchFamily="34" charset="0"/>
              <a:buChar char="•"/>
              <a:defRPr sz="1800" kern="1200">
                <a:solidFill>
                  <a:schemeClr val="tx1"/>
                </a:solidFill>
                <a:latin typeface="+mj-lt"/>
                <a:ea typeface="+mn-ea"/>
                <a:cs typeface="+mn-cs"/>
              </a:defRPr>
            </a:lvl4pPr>
            <a:lvl5pPr marL="1332230" indent="-285750" algn="l" defTabSz="914400" rtl="0" eaLnBrk="1" fontAlgn="auto" latinLnBrk="0" hangingPunct="1">
              <a:lnSpc>
                <a:spcPct val="10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50000"/>
              </a:lnSpc>
              <a:buNone/>
            </a:pPr>
            <a:r>
              <a:rPr lang="en-US" altLang="vi-VN" sz="2000" b="1" dirty="0">
                <a:solidFill>
                  <a:srgbClr val="999999"/>
                </a:solidFill>
                <a:highlight>
                  <a:srgbClr val="FFFFFF"/>
                </a:highlight>
                <a:latin typeface="+mj-lt"/>
              </a:rPr>
              <a:t>...s</a:t>
            </a:r>
            <a:r>
              <a:rPr lang="vi-VN" sz="2000" b="1" dirty="0">
                <a:solidFill>
                  <a:srgbClr val="999999"/>
                </a:solidFill>
                <a:highlight>
                  <a:srgbClr val="FFFFFF"/>
                </a:highlight>
                <a:latin typeface="+mj-lt"/>
              </a:rPr>
              <a:t>ự đền đáp xứng đáng nhất đối với những người đã giúp đỡ mình chính là làm sao có thể giúp thêm nhiều người khác</a:t>
            </a:r>
            <a:r>
              <a:rPr lang="en-US" altLang="vi-VN" sz="2000" b="1" dirty="0">
                <a:solidFill>
                  <a:srgbClr val="999999"/>
                </a:solidFill>
                <a:highlight>
                  <a:srgbClr val="FFFFFF"/>
                </a:highlight>
                <a:latin typeface="+mj-lt"/>
              </a:rPr>
              <a:t>. </a:t>
            </a:r>
          </a:p>
          <a:p>
            <a:pPr marL="0" indent="0" algn="r">
              <a:lnSpc>
                <a:spcPct val="150000"/>
              </a:lnSpc>
              <a:buNone/>
            </a:pPr>
            <a:r>
              <a:rPr lang="en-US" altLang="vi-VN" sz="2000" b="1" dirty="0">
                <a:solidFill>
                  <a:srgbClr val="999999"/>
                </a:solidFill>
                <a:highlight>
                  <a:srgbClr val="FFFFFF"/>
                </a:highlight>
                <a:latin typeface="+mj-lt"/>
              </a:rPr>
              <a:t>“Pay it forward” là cách mà CLB hoạt động.</a:t>
            </a:r>
            <a:r>
              <a:rPr lang="vi-VN" sz="2000" b="1" dirty="0">
                <a:solidFill>
                  <a:srgbClr val="999999"/>
                </a:solidFill>
                <a:highlight>
                  <a:srgbClr val="FFFFFF"/>
                </a:highlight>
                <a:latin typeface="+mj-lt"/>
              </a:rPr>
              <a:t> </a:t>
            </a:r>
            <a:endParaRPr lang="en-US" sz="2000" b="1" dirty="0">
              <a:solidFill>
                <a:srgbClr val="999999"/>
              </a:solidFill>
              <a:highlight>
                <a:srgbClr val="FFFFFF"/>
              </a:highlight>
              <a:latin typeface="+mj-lt"/>
            </a:endParaRPr>
          </a:p>
        </p:txBody>
      </p:sp>
      <p:sp>
        <p:nvSpPr>
          <p:cNvPr id="5" name="TextBox 4">
            <a:extLst>
              <a:ext uri="{FF2B5EF4-FFF2-40B4-BE49-F238E27FC236}">
                <a16:creationId xmlns:a16="http://schemas.microsoft.com/office/drawing/2014/main" id="{B417F643-30D0-807A-23E3-84716EE91869}"/>
              </a:ext>
            </a:extLst>
          </p:cNvPr>
          <p:cNvSpPr txBox="1"/>
          <p:nvPr userDrawn="1"/>
        </p:nvSpPr>
        <p:spPr>
          <a:xfrm>
            <a:off x="258444" y="3185904"/>
            <a:ext cx="11416145" cy="2174570"/>
          </a:xfrm>
          <a:prstGeom prst="rect">
            <a:avLst/>
          </a:prstGeom>
          <a:noFill/>
        </p:spPr>
        <p:txBody>
          <a:bodyPr wrap="square" rtlCol="0">
            <a:spAutoFit/>
          </a:bodyPr>
          <a:lstStyle/>
          <a:p>
            <a:pPr marL="342900" indent="-342900" algn="l">
              <a:lnSpc>
                <a:spcPct val="200000"/>
              </a:lnSpc>
              <a:buFont typeface="Arial" panose="020B0604020202020204" pitchFamily="34" charset="0"/>
              <a:buChar char="•"/>
            </a:pPr>
            <a:r>
              <a:rPr lang="en-US" sz="2400" b="0" i="0" dirty="0">
                <a:solidFill>
                  <a:srgbClr val="050505"/>
                </a:solidFill>
                <a:effectLst/>
                <a:highlight>
                  <a:srgbClr val="FFFFFF"/>
                </a:highlight>
                <a:latin typeface="+mj-lt"/>
              </a:rPr>
              <a:t>Forum: </a:t>
            </a:r>
            <a:r>
              <a:rPr lang="en-US" sz="2400" b="0" i="0" u="none" strike="noStrike" dirty="0">
                <a:effectLst/>
                <a:highlight>
                  <a:srgbClr val="FFFFFF"/>
                </a:highlight>
                <a:latin typeface="+mj-lt"/>
                <a:hlinkClick r:id="rId4"/>
              </a:rPr>
              <a:t>https://www.forum.payitforward.edu.vn/</a:t>
            </a:r>
            <a:endParaRPr lang="en-US" sz="2400" b="0" i="0" dirty="0">
              <a:solidFill>
                <a:srgbClr val="050505"/>
              </a:solidFill>
              <a:effectLst/>
              <a:highlight>
                <a:srgbClr val="FFFFFF"/>
              </a:highlight>
              <a:latin typeface="+mj-lt"/>
            </a:endParaRPr>
          </a:p>
          <a:p>
            <a:pPr marL="342900" indent="-342900" algn="l">
              <a:lnSpc>
                <a:spcPct val="200000"/>
              </a:lnSpc>
              <a:buFont typeface="Arial" panose="020B0604020202020204" pitchFamily="34" charset="0"/>
              <a:buChar char="•"/>
            </a:pPr>
            <a:r>
              <a:rPr lang="en-US" sz="2400" b="0" i="0" dirty="0" err="1">
                <a:solidFill>
                  <a:srgbClr val="050505"/>
                </a:solidFill>
                <a:effectLst/>
                <a:highlight>
                  <a:srgbClr val="FFFFFF"/>
                </a:highlight>
                <a:latin typeface="+mj-lt"/>
              </a:rPr>
              <a:t>Fanpage</a:t>
            </a:r>
            <a:r>
              <a:rPr lang="en-US" sz="2400" b="0" i="0" dirty="0">
                <a:solidFill>
                  <a:srgbClr val="050505"/>
                </a:solidFill>
                <a:effectLst/>
                <a:highlight>
                  <a:srgbClr val="FFFFFF"/>
                </a:highlight>
                <a:latin typeface="+mj-lt"/>
              </a:rPr>
              <a:t> CLB: </a:t>
            </a:r>
            <a:r>
              <a:rPr lang="en-US" sz="2400" b="0" i="0" u="none" strike="noStrike" dirty="0">
                <a:solidFill>
                  <a:srgbClr val="050505"/>
                </a:solidFill>
                <a:effectLst/>
                <a:highlight>
                  <a:srgbClr val="FFFFFF"/>
                </a:highlight>
                <a:latin typeface="+mj-lt"/>
                <a:hlinkClick r:id="rId5"/>
              </a:rPr>
              <a:t>https://www.facebook.com/payitforward.edu.vn</a:t>
            </a:r>
            <a:endParaRPr lang="en-US" sz="2400" b="0" i="0" dirty="0">
              <a:solidFill>
                <a:srgbClr val="050505"/>
              </a:solidFill>
              <a:effectLst/>
              <a:highlight>
                <a:srgbClr val="FFFFFF"/>
              </a:highlight>
              <a:latin typeface="+mj-lt"/>
            </a:endParaRPr>
          </a:p>
          <a:p>
            <a:pPr marL="342900" indent="-342900" algn="l">
              <a:lnSpc>
                <a:spcPct val="200000"/>
              </a:lnSpc>
              <a:buFont typeface="Arial" panose="020B0604020202020204" pitchFamily="34" charset="0"/>
              <a:buChar char="•"/>
            </a:pPr>
            <a:r>
              <a:rPr lang="en-US" sz="2400" b="0" i="0" dirty="0">
                <a:solidFill>
                  <a:srgbClr val="050505"/>
                </a:solidFill>
                <a:effectLst/>
                <a:highlight>
                  <a:srgbClr val="FFFFFF"/>
                </a:highlight>
                <a:latin typeface="+mj-lt"/>
              </a:rPr>
              <a:t>Group PIF-Courses: </a:t>
            </a:r>
            <a:r>
              <a:rPr lang="en-US" sz="2400" b="0" i="0" u="none" strike="noStrike" dirty="0">
                <a:solidFill>
                  <a:srgbClr val="050505"/>
                </a:solidFill>
                <a:effectLst/>
                <a:highlight>
                  <a:srgbClr val="FFFFFF"/>
                </a:highlight>
                <a:latin typeface="+mj-lt"/>
                <a:hlinkClick r:id="rId6"/>
              </a:rPr>
              <a:t>https://www.facebook.com/groups/PIFCourse</a:t>
            </a:r>
            <a:endParaRPr lang="en-US" sz="2400" b="0" i="0" dirty="0">
              <a:solidFill>
                <a:srgbClr val="050505"/>
              </a:solidFill>
              <a:effectLst/>
              <a:highlight>
                <a:srgbClr val="FFFFFF"/>
              </a:highlight>
              <a:latin typeface="+mj-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9BA4471-681E-31F7-20A2-494B3896A010}"/>
              </a:ext>
            </a:extLst>
          </p:cNvPr>
          <p:cNvSpPr/>
          <p:nvPr userDrawn="1"/>
        </p:nvSpPr>
        <p:spPr>
          <a:xfrm>
            <a:off x="9495774" y="4017819"/>
            <a:ext cx="2642886" cy="25441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6"/>
          <p:cNvSpPr>
            <a:spLocks noGrp="1"/>
          </p:cNvSpPr>
          <p:nvPr userDrawn="1"/>
        </p:nvSpPr>
        <p:spPr>
          <a:xfrm>
            <a:off x="5137150" y="6593205"/>
            <a:ext cx="1905000" cy="26479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90000"/>
              </a:lnSpc>
            </a:pPr>
            <a:fld id="{9C5BEA5F-45C3-4BB6-A590-5A9FB25E3428}" type="slidenum">
              <a:rPr lang="en-US" b="1" smtClean="0">
                <a:solidFill>
                  <a:schemeClr val="bg1"/>
                </a:solidFill>
                <a:latin typeface="Roboto" charset="0"/>
                <a:cs typeface="Roboto" charset="0"/>
              </a:rPr>
              <a:t>‹#›</a:t>
            </a:fld>
            <a:endParaRPr lang="en-US" b="1" dirty="0">
              <a:solidFill>
                <a:schemeClr val="bg1"/>
              </a:solidFill>
              <a:latin typeface="Roboto" charset="0"/>
              <a:cs typeface="Roboto" charset="0"/>
            </a:endParaRPr>
          </a:p>
        </p:txBody>
      </p:sp>
      <p:sp>
        <p:nvSpPr>
          <p:cNvPr id="2" name="Rectangle 1">
            <a:extLst>
              <a:ext uri="{FF2B5EF4-FFF2-40B4-BE49-F238E27FC236}">
                <a16:creationId xmlns:a16="http://schemas.microsoft.com/office/drawing/2014/main" id="{0BD815F9-984C-6A61-7A8F-64248DF61379}"/>
              </a:ext>
            </a:extLst>
          </p:cNvPr>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2">
            <a:extLst>
              <a:ext uri="{FF2B5EF4-FFF2-40B4-BE49-F238E27FC236}">
                <a16:creationId xmlns:a16="http://schemas.microsoft.com/office/drawing/2014/main" id="{04A271B2-AC46-C0E0-2927-DCC3F5E9DDD6}"/>
              </a:ext>
            </a:extLst>
          </p:cNvPr>
          <p:cNvSpPr>
            <a:spLocks noChangeArrowheads="1"/>
          </p:cNvSpPr>
          <p:nvPr userDrawn="1"/>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TextBox 9">
            <a:extLst>
              <a:ext uri="{FF2B5EF4-FFF2-40B4-BE49-F238E27FC236}">
                <a16:creationId xmlns:a16="http://schemas.microsoft.com/office/drawing/2014/main" id="{B763819A-0280-68AC-35CB-66DB20D7AE82}"/>
              </a:ext>
            </a:extLst>
          </p:cNvPr>
          <p:cNvSpPr txBox="1"/>
          <p:nvPr userDrawn="1"/>
        </p:nvSpPr>
        <p:spPr>
          <a:xfrm>
            <a:off x="1" y="816925"/>
            <a:ext cx="12191999" cy="1015663"/>
          </a:xfrm>
          <a:prstGeom prst="rect">
            <a:avLst/>
          </a:prstGeom>
          <a:noFill/>
        </p:spPr>
        <p:txBody>
          <a:bodyPr wrap="square" rtlCol="0">
            <a:spAutoFit/>
          </a:bodyPr>
          <a:lstStyle/>
          <a:p>
            <a:pPr algn="ctr"/>
            <a:r>
              <a:rPr lang="en-US" sz="6000" b="1" dirty="0">
                <a:solidFill>
                  <a:schemeClr val="accent5">
                    <a:lumMod val="75000"/>
                  </a:schemeClr>
                </a:solidFill>
                <a:latin typeface="+mj-lt"/>
              </a:rPr>
              <a:t>Thank for your attention!</a:t>
            </a:r>
          </a:p>
        </p:txBody>
      </p:sp>
      <p:pic>
        <p:nvPicPr>
          <p:cNvPr id="7" name="Content Placeholder 4" descr="A blue text on a black background&#10;&#10;Description automatically generated">
            <a:extLst>
              <a:ext uri="{FF2B5EF4-FFF2-40B4-BE49-F238E27FC236}">
                <a16:creationId xmlns:a16="http://schemas.microsoft.com/office/drawing/2014/main" id="{4BB4E949-B815-4B17-E28C-AB0AA2A0140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19499" b="25918"/>
          <a:stretch/>
        </p:blipFill>
        <p:spPr>
          <a:xfrm>
            <a:off x="-228204" y="1832588"/>
            <a:ext cx="12678820" cy="4893014"/>
          </a:xfrm>
          <a:prstGeom prst="rect">
            <a:avLst/>
          </a:prstGeom>
        </p:spPr>
      </p:pic>
    </p:spTree>
    <p:extLst>
      <p:ext uri="{BB962C8B-B14F-4D97-AF65-F5344CB8AC3E}">
        <p14:creationId xmlns:p14="http://schemas.microsoft.com/office/powerpoint/2010/main" val="3645010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Pr>
        <a:solidFill>
          <a:srgbClr val="333333"/>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3251200" y="2996230"/>
            <a:ext cx="5689600" cy="86553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92558"/>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75305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6"/>
          <p:cNvSpPr>
            <a:spLocks noGrp="1"/>
          </p:cNvSpPr>
          <p:nvPr userDrawn="1"/>
        </p:nvSpPr>
        <p:spPr>
          <a:xfrm>
            <a:off x="5137150" y="6593205"/>
            <a:ext cx="1905000" cy="26479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90000"/>
              </a:lnSpc>
            </a:pPr>
            <a:fld id="{9C5BEA5F-45C3-4BB6-A590-5A9FB25E3428}" type="slidenum">
              <a:rPr lang="en-US" b="1" smtClean="0">
                <a:solidFill>
                  <a:schemeClr val="bg1"/>
                </a:solidFill>
                <a:latin typeface="Roboto" charset="0"/>
                <a:cs typeface="Roboto" charset="0"/>
              </a:rPr>
              <a:t>‹#›</a:t>
            </a:fld>
            <a:endParaRPr lang="en-US" b="1" dirty="0">
              <a:solidFill>
                <a:schemeClr val="bg1"/>
              </a:solidFill>
              <a:latin typeface="Roboto" charset="0"/>
              <a:cs typeface="Roboto" charset="0"/>
            </a:endParaRPr>
          </a:p>
        </p:txBody>
      </p:sp>
      <p:sp>
        <p:nvSpPr>
          <p:cNvPr id="17" name="Slide Number Placeholder 6"/>
          <p:cNvSpPr>
            <a:spLocks noGrp="1"/>
          </p:cNvSpPr>
          <p:nvPr userDrawn="1"/>
        </p:nvSpPr>
        <p:spPr>
          <a:xfrm>
            <a:off x="0" y="6593205"/>
            <a:ext cx="1905000" cy="26479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dirty="0">
                <a:solidFill>
                  <a:schemeClr val="bg1"/>
                </a:solidFill>
                <a:latin typeface="Arial" panose="020B0604020202020204" pitchFamily="34" charset="0"/>
                <a:cs typeface="Arial" panose="020B0604020202020204" pitchFamily="34" charset="0"/>
                <a:sym typeface="+mn-ea"/>
              </a:rPr>
              <a:t>© 2026 - PIFClub</a:t>
            </a:r>
            <a:endParaRPr lang="en-US" b="1" dirty="0">
              <a:solidFill>
                <a:schemeClr val="bg1"/>
              </a:solidFill>
            </a:endParaRPr>
          </a:p>
        </p:txBody>
      </p:sp>
      <p:sp>
        <p:nvSpPr>
          <p:cNvPr id="18" name="Slide Number Placeholder 6"/>
          <p:cNvSpPr>
            <a:spLocks noGrp="1"/>
          </p:cNvSpPr>
          <p:nvPr userDrawn="1"/>
        </p:nvSpPr>
        <p:spPr>
          <a:xfrm>
            <a:off x="10286365" y="6593205"/>
            <a:ext cx="1905000" cy="26479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b="1" dirty="0">
                <a:solidFill>
                  <a:schemeClr val="bg1"/>
                </a:solidFill>
                <a:latin typeface="Arial" panose="020B0604020202020204" pitchFamily="34" charset="0"/>
                <a:cs typeface="Arial" panose="020B0604020202020204" pitchFamily="34" charset="0"/>
                <a:sym typeface="+mn-ea"/>
              </a:rPr>
              <a:t>External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2" r:id="rId5"/>
  </p:sldLayoutIdLst>
  <p:hf hdr="0" ftr="0" dt="0"/>
  <p:txStyles>
    <p:titleStyle>
      <a:lvl1pPr algn="l" defTabSz="914400" rtl="0" eaLnBrk="1" latinLnBrk="0" hangingPunct="1">
        <a:lnSpc>
          <a:spcPct val="90000"/>
        </a:lnSpc>
        <a:spcBef>
          <a:spcPct val="0"/>
        </a:spcBef>
        <a:buNone/>
        <a:defRPr sz="4000" b="1" kern="1200">
          <a:solidFill>
            <a:srgbClr val="032B9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fontScale="90000"/>
          </a:bodyPr>
          <a:lstStyle/>
          <a:p>
            <a:pPr algn="ctr"/>
            <a:r>
              <a:rPr lang="vi-VN" dirty="0"/>
              <a:t>QUY TRÌNH LÀM</a:t>
            </a:r>
            <a:br>
              <a:rPr lang="vi-VN" dirty="0"/>
            </a:br>
            <a:r>
              <a:rPr lang="vi-VN" dirty="0"/>
              <a:t>MẠCH PCB THỦ CÔNG</a:t>
            </a:r>
            <a:br>
              <a:rPr lang="vi-VN" dirty="0"/>
            </a:br>
            <a:endParaRPr lang="en-US" dirty="0"/>
          </a:p>
        </p:txBody>
      </p:sp>
      <p:sp>
        <p:nvSpPr>
          <p:cNvPr id="4" name="Text Placeholder 3"/>
          <p:cNvSpPr>
            <a:spLocks noGrp="1"/>
          </p:cNvSpPr>
          <p:nvPr>
            <p:ph type="body" sz="quarter" idx="10"/>
          </p:nvPr>
        </p:nvSpPr>
        <p:spPr/>
        <p:txBody>
          <a:bodyPr/>
          <a:lstStyle/>
          <a:p>
            <a:r>
              <a:rPr lang="en-US" dirty="0" err="1"/>
              <a:t>PIFKid</a:t>
            </a:r>
            <a:r>
              <a:rPr lang="en-US" dirty="0"/>
              <a:t> - 2026</a:t>
            </a:r>
          </a:p>
        </p:txBody>
      </p:sp>
      <p:sp>
        <p:nvSpPr>
          <p:cNvPr id="7" name="Subtitle 2"/>
          <p:cNvSpPr>
            <a:spLocks noGrp="1"/>
          </p:cNvSpPr>
          <p:nvPr/>
        </p:nvSpPr>
        <p:spPr>
          <a:xfrm>
            <a:off x="1904365" y="6523355"/>
            <a:ext cx="8382635" cy="334010"/>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pPr>
            <a:r>
              <a:rPr lang="en-US" sz="1600" b="1" dirty="0">
                <a:latin typeface="Roboto" charset="0"/>
                <a:cs typeface="Roboto" charset="0"/>
              </a:rPr>
              <a:t>HCMC, June 2026</a:t>
            </a:r>
          </a:p>
        </p:txBody>
      </p:sp>
      <p:sp>
        <p:nvSpPr>
          <p:cNvPr id="8" name="TextBox 7">
            <a:extLst>
              <a:ext uri="{FF2B5EF4-FFF2-40B4-BE49-F238E27FC236}">
                <a16:creationId xmlns:a16="http://schemas.microsoft.com/office/drawing/2014/main" id="{DD87E79C-B506-F8AF-6BE9-C0F424ECF71A}"/>
              </a:ext>
            </a:extLst>
          </p:cNvPr>
          <p:cNvSpPr txBox="1"/>
          <p:nvPr/>
        </p:nvSpPr>
        <p:spPr>
          <a:xfrm>
            <a:off x="6165302" y="4123151"/>
            <a:ext cx="6111108" cy="424732"/>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1" u="none" strike="noStrike" kern="1200" cap="none" spc="0" normalizeH="0" baseline="0" noProof="0" dirty="0">
                <a:ln>
                  <a:noFill/>
                </a:ln>
                <a:solidFill>
                  <a:prstClr val="black"/>
                </a:solidFill>
                <a:effectLst/>
                <a:uLnTx/>
                <a:uFillTx/>
                <a:latin typeface="Roboto" charset="0"/>
                <a:ea typeface="Roboto" charset="0"/>
                <a:cs typeface="+mn-cs"/>
              </a:rPr>
              <a:t>Cre: </a:t>
            </a:r>
            <a:r>
              <a:rPr kumimoji="0" lang="en-US" sz="2400" b="1" i="1" u="none" strike="noStrike" kern="1200" cap="none" spc="0" normalizeH="0" baseline="0" noProof="0" dirty="0" err="1">
                <a:ln>
                  <a:noFill/>
                </a:ln>
                <a:solidFill>
                  <a:prstClr val="black"/>
                </a:solidFill>
                <a:effectLst/>
                <a:uLnTx/>
                <a:uFillTx/>
                <a:latin typeface="Roboto" charset="0"/>
                <a:ea typeface="Roboto" charset="0"/>
                <a:cs typeface="+mn-cs"/>
              </a:rPr>
              <a:t>Nguyễn</a:t>
            </a:r>
            <a:r>
              <a:rPr kumimoji="0" lang="en-US" sz="2400" b="1" i="1" u="none" strike="noStrike" kern="1200" cap="none" spc="0" normalizeH="0" baseline="0" noProof="0" dirty="0">
                <a:ln>
                  <a:noFill/>
                </a:ln>
                <a:solidFill>
                  <a:prstClr val="black"/>
                </a:solidFill>
                <a:effectLst/>
                <a:uLnTx/>
                <a:uFillTx/>
                <a:latin typeface="Roboto" charset="0"/>
                <a:ea typeface="Roboto" charset="0"/>
                <a:cs typeface="+mn-cs"/>
              </a:rPr>
              <a:t> </a:t>
            </a:r>
            <a:r>
              <a:rPr kumimoji="0" lang="en-US" sz="2400" b="1" i="1" u="none" strike="noStrike" kern="1200" cap="none" spc="0" normalizeH="0" baseline="0" noProof="0" dirty="0" err="1">
                <a:ln>
                  <a:noFill/>
                </a:ln>
                <a:solidFill>
                  <a:prstClr val="black"/>
                </a:solidFill>
                <a:effectLst/>
                <a:uLnTx/>
                <a:uFillTx/>
                <a:latin typeface="Roboto" charset="0"/>
                <a:ea typeface="Roboto" charset="0"/>
                <a:cs typeface="+mn-cs"/>
              </a:rPr>
              <a:t>Tấn</a:t>
            </a:r>
            <a:r>
              <a:rPr kumimoji="0" lang="en-US" sz="2400" b="1" i="1" u="none" strike="noStrike" kern="1200" cap="none" spc="0" normalizeH="0" baseline="0" noProof="0" dirty="0">
                <a:ln>
                  <a:noFill/>
                </a:ln>
                <a:solidFill>
                  <a:prstClr val="black"/>
                </a:solidFill>
                <a:effectLst/>
                <a:uLnTx/>
                <a:uFillTx/>
                <a:latin typeface="Roboto" charset="0"/>
                <a:ea typeface="Roboto" charset="0"/>
                <a:cs typeface="+mn-cs"/>
              </a:rPr>
              <a:t> </a:t>
            </a:r>
            <a:r>
              <a:rPr kumimoji="0" lang="en-US" sz="2400" b="1" i="1" u="none" strike="noStrike" kern="1200" cap="none" spc="0" normalizeH="0" baseline="0" noProof="0" dirty="0" err="1">
                <a:ln>
                  <a:noFill/>
                </a:ln>
                <a:solidFill>
                  <a:prstClr val="black"/>
                </a:solidFill>
                <a:effectLst/>
                <a:uLnTx/>
                <a:uFillTx/>
                <a:latin typeface="Roboto" charset="0"/>
                <a:ea typeface="Roboto" charset="0"/>
                <a:cs typeface="+mn-cs"/>
              </a:rPr>
              <a:t>Tài</a:t>
            </a:r>
            <a:endParaRPr kumimoji="0" lang="en-US" sz="2400" b="1" i="1" u="none" strike="noStrike" kern="1200" cap="none" spc="0" normalizeH="0" baseline="0" noProof="0" dirty="0">
              <a:ln>
                <a:noFill/>
              </a:ln>
              <a:solidFill>
                <a:prstClr val="black"/>
              </a:solidFill>
              <a:effectLst/>
              <a:uLnTx/>
              <a:uFillTx/>
              <a:latin typeface="Roboto" charset="0"/>
              <a:ea typeface="Roboto" charset="0"/>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59080" y="649715"/>
            <a:ext cx="11662410" cy="461010"/>
          </a:xfrm>
        </p:spPr>
        <p:txBody>
          <a:bodyPr/>
          <a:lstStyle/>
          <a:p>
            <a:r>
              <a:rPr lang="vi-VN" cap="all" dirty="0"/>
              <a:t>Trọng tâm: Mạch sử dụng IC NE555</a:t>
            </a:r>
            <a:br>
              <a:rPr lang="vi-VN" cap="all" dirty="0"/>
            </a:br>
            <a:endParaRPr lang="en-US" dirty="0"/>
          </a:p>
        </p:txBody>
      </p:sp>
      <p:sp>
        <p:nvSpPr>
          <p:cNvPr id="8" name="Content Placeholder 7"/>
          <p:cNvSpPr>
            <a:spLocks noGrp="1"/>
          </p:cNvSpPr>
          <p:nvPr>
            <p:ph idx="1"/>
          </p:nvPr>
        </p:nvSpPr>
        <p:spPr>
          <a:xfrm>
            <a:off x="258446" y="1297305"/>
            <a:ext cx="7356300" cy="3999909"/>
          </a:xfrm>
        </p:spPr>
        <p:txBody>
          <a:bodyPr/>
          <a:lstStyle/>
          <a:p>
            <a:pPr marL="0" indent="0">
              <a:buNone/>
            </a:pPr>
            <a:r>
              <a:rPr lang="en-US" dirty="0"/>
              <a:t>	</a:t>
            </a:r>
            <a:r>
              <a:rPr lang="vi-VN" dirty="0"/>
              <a:t>Trong dự án này, chúng ta sẽ thực hành làm mạch cho IC NE555, một linh kiện kinh điển với độ bền cao và tính ứng dụng cực kỳ rộng rãi.</a:t>
            </a:r>
            <a:endParaRPr lang="en-US" dirty="0"/>
          </a:p>
          <a:p>
            <a:r>
              <a:rPr lang="vi-VN" b="1" dirty="0"/>
              <a:t>Cấu trúc DIP-8:</a:t>
            </a:r>
            <a:r>
              <a:rPr lang="vi-VN" dirty="0"/>
              <a:t> Khoảng cách chân rộng, cực kỳ phù hợp cho người mới tập khoan mạch.</a:t>
            </a:r>
          </a:p>
          <a:p>
            <a:r>
              <a:rPr lang="vi-VN" b="1" dirty="0"/>
              <a:t>Tính năng:</a:t>
            </a:r>
            <a:r>
              <a:rPr lang="vi-VN" dirty="0"/>
              <a:t> Tạo xung, định thời, PWM cho LED hoặc động cơ.</a:t>
            </a:r>
          </a:p>
          <a:p>
            <a:r>
              <a:rPr lang="vi-VN" b="1" dirty="0"/>
              <a:t>Độ bền:</a:t>
            </a:r>
            <a:r>
              <a:rPr lang="vi-VN" dirty="0"/>
              <a:t> Chịu được nhiệt độ hàn cao, khó hỏng hóc khi thực hành.</a:t>
            </a:r>
          </a:p>
          <a:p>
            <a:pPr marL="0" indent="0">
              <a:buNone/>
            </a:pPr>
            <a:endParaRPr lang="en-US" dirty="0"/>
          </a:p>
        </p:txBody>
      </p:sp>
      <p:pic>
        <p:nvPicPr>
          <p:cNvPr id="5" name="Picture 4">
            <a:extLst>
              <a:ext uri="{FF2B5EF4-FFF2-40B4-BE49-F238E27FC236}">
                <a16:creationId xmlns:a16="http://schemas.microsoft.com/office/drawing/2014/main" id="{60D70681-93D5-BF65-2429-1EB0F7A1A887}"/>
              </a:ext>
            </a:extLst>
          </p:cNvPr>
          <p:cNvPicPr>
            <a:picLocks noChangeAspect="1"/>
          </p:cNvPicPr>
          <p:nvPr/>
        </p:nvPicPr>
        <p:blipFill>
          <a:blip r:embed="rId2"/>
          <a:stretch>
            <a:fillRect/>
          </a:stretch>
        </p:blipFill>
        <p:spPr>
          <a:xfrm>
            <a:off x="7850582" y="2222584"/>
            <a:ext cx="2789162" cy="28272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6A35EF-B4F7-89AB-2F8C-4DE4EA1946BF}"/>
              </a:ext>
            </a:extLst>
          </p:cNvPr>
          <p:cNvPicPr>
            <a:picLocks noChangeAspect="1"/>
          </p:cNvPicPr>
          <p:nvPr/>
        </p:nvPicPr>
        <p:blipFill>
          <a:blip r:embed="rId2"/>
          <a:stretch>
            <a:fillRect/>
          </a:stretch>
        </p:blipFill>
        <p:spPr>
          <a:xfrm>
            <a:off x="8033469" y="3649847"/>
            <a:ext cx="2725929" cy="2098990"/>
          </a:xfrm>
          <a:prstGeom prst="rect">
            <a:avLst/>
          </a:prstGeom>
        </p:spPr>
      </p:pic>
      <p:pic>
        <p:nvPicPr>
          <p:cNvPr id="9" name="Picture 8">
            <a:extLst>
              <a:ext uri="{FF2B5EF4-FFF2-40B4-BE49-F238E27FC236}">
                <a16:creationId xmlns:a16="http://schemas.microsoft.com/office/drawing/2014/main" id="{5BD146CF-77DE-79FD-CFC9-4C436C53E5BB}"/>
              </a:ext>
            </a:extLst>
          </p:cNvPr>
          <p:cNvPicPr>
            <a:picLocks noChangeAspect="1"/>
          </p:cNvPicPr>
          <p:nvPr/>
        </p:nvPicPr>
        <p:blipFill>
          <a:blip r:embed="rId3"/>
          <a:stretch>
            <a:fillRect/>
          </a:stretch>
        </p:blipFill>
        <p:spPr>
          <a:xfrm>
            <a:off x="3625129" y="3755159"/>
            <a:ext cx="3575767" cy="2363643"/>
          </a:xfrm>
          <a:prstGeom prst="rect">
            <a:avLst/>
          </a:prstGeom>
        </p:spPr>
      </p:pic>
      <p:pic>
        <p:nvPicPr>
          <p:cNvPr id="6" name="Picture 5" descr="Phíp Đồng 1 mặt A4 (20X30CM)">
            <a:extLst>
              <a:ext uri="{FF2B5EF4-FFF2-40B4-BE49-F238E27FC236}">
                <a16:creationId xmlns:a16="http://schemas.microsoft.com/office/drawing/2014/main" id="{B6DCE351-FE81-20BB-4414-AC524A054CE9}"/>
              </a:ext>
            </a:extLst>
          </p:cNvPr>
          <p:cNvPicPr>
            <a:picLocks noChangeAspect="1"/>
          </p:cNvPicPr>
          <p:nvPr/>
        </p:nvPicPr>
        <p:blipFill>
          <a:blip r:embed="rId4"/>
          <a:stretch>
            <a:fillRect/>
          </a:stretch>
        </p:blipFill>
        <p:spPr>
          <a:xfrm>
            <a:off x="324508" y="3595852"/>
            <a:ext cx="2856186" cy="2856186"/>
          </a:xfrm>
          <a:prstGeom prst="rect">
            <a:avLst/>
          </a:prstGeom>
        </p:spPr>
      </p:pic>
      <p:sp>
        <p:nvSpPr>
          <p:cNvPr id="2" name="Content Placeholder 1">
            <a:extLst>
              <a:ext uri="{FF2B5EF4-FFF2-40B4-BE49-F238E27FC236}">
                <a16:creationId xmlns:a16="http://schemas.microsoft.com/office/drawing/2014/main" id="{CF28B3B8-EBD7-5BB5-B861-E012DE50F17E}"/>
              </a:ext>
            </a:extLst>
          </p:cNvPr>
          <p:cNvSpPr>
            <a:spLocks noGrp="1"/>
          </p:cNvSpPr>
          <p:nvPr>
            <p:ph idx="1"/>
          </p:nvPr>
        </p:nvSpPr>
        <p:spPr>
          <a:xfrm>
            <a:off x="258445" y="1604141"/>
            <a:ext cx="3300621" cy="4415024"/>
          </a:xfrm>
        </p:spPr>
        <p:txBody>
          <a:bodyPr>
            <a:normAutofit/>
          </a:bodyPr>
          <a:lstStyle/>
          <a:p>
            <a:pPr marL="0" indent="0" algn="ctr">
              <a:buNone/>
            </a:pPr>
            <a:r>
              <a:rPr lang="en-US" sz="2800" b="1" dirty="0" err="1"/>
              <a:t>Phíp</a:t>
            </a:r>
            <a:r>
              <a:rPr lang="en-US" sz="2800" b="1" dirty="0"/>
              <a:t> </a:t>
            </a:r>
            <a:r>
              <a:rPr lang="en-US" sz="2800" b="1" dirty="0" err="1"/>
              <a:t>Đồng</a:t>
            </a:r>
            <a:endParaRPr lang="en-US" sz="2800" b="1" dirty="0"/>
          </a:p>
          <a:p>
            <a:pPr marL="0" indent="0">
              <a:buNone/>
            </a:pPr>
            <a:r>
              <a:rPr lang="vi-VN" sz="2800" dirty="0"/>
              <a:t>Lớp đế cách điện phủ đồng. Là nơi chứa các đường dẫn điện kết nối linh kiện.</a:t>
            </a:r>
          </a:p>
        </p:txBody>
      </p:sp>
      <p:sp>
        <p:nvSpPr>
          <p:cNvPr id="3" name="Title 2">
            <a:extLst>
              <a:ext uri="{FF2B5EF4-FFF2-40B4-BE49-F238E27FC236}">
                <a16:creationId xmlns:a16="http://schemas.microsoft.com/office/drawing/2014/main" id="{71C9F649-4FC5-DF16-0EA8-13F2BD88EC0D}"/>
              </a:ext>
            </a:extLst>
          </p:cNvPr>
          <p:cNvSpPr>
            <a:spLocks noGrp="1"/>
          </p:cNvSpPr>
          <p:nvPr>
            <p:ph type="title"/>
          </p:nvPr>
        </p:nvSpPr>
        <p:spPr/>
        <p:txBody>
          <a:bodyPr/>
          <a:lstStyle/>
          <a:p>
            <a:r>
              <a:rPr lang="en-US" dirty="0"/>
              <a:t>DỤNG CỤ GIA CÔNG</a:t>
            </a:r>
            <a:endParaRPr lang="vi-VN" dirty="0"/>
          </a:p>
        </p:txBody>
      </p:sp>
      <p:sp>
        <p:nvSpPr>
          <p:cNvPr id="4" name="Content Placeholder 1">
            <a:extLst>
              <a:ext uri="{FF2B5EF4-FFF2-40B4-BE49-F238E27FC236}">
                <a16:creationId xmlns:a16="http://schemas.microsoft.com/office/drawing/2014/main" id="{9847FC05-366C-E100-9B0A-C00A2AA9A096}"/>
              </a:ext>
            </a:extLst>
          </p:cNvPr>
          <p:cNvSpPr txBox="1">
            <a:spLocks/>
          </p:cNvSpPr>
          <p:nvPr/>
        </p:nvSpPr>
        <p:spPr>
          <a:xfrm>
            <a:off x="3835903" y="1547647"/>
            <a:ext cx="3300621" cy="441502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j-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j-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j-lt"/>
                <a:ea typeface="+mn-ea"/>
                <a:cs typeface="+mn-cs"/>
              </a:defRPr>
            </a:lvl3pPr>
            <a:lvl4pPr marL="1043940" indent="-285750" algn="l" defTabSz="914400" rtl="0" eaLnBrk="1" fontAlgn="auto" latinLnBrk="0" hangingPunct="1">
              <a:lnSpc>
                <a:spcPct val="100000"/>
              </a:lnSpc>
              <a:spcBef>
                <a:spcPts val="500"/>
              </a:spcBef>
              <a:buFont typeface="Arial" panose="020B0604020202020204" pitchFamily="34" charset="0"/>
              <a:buChar char="•"/>
              <a:defRPr sz="1800" kern="1200">
                <a:solidFill>
                  <a:schemeClr val="tx1"/>
                </a:solidFill>
                <a:latin typeface="+mj-lt"/>
                <a:ea typeface="+mn-ea"/>
                <a:cs typeface="+mn-cs"/>
              </a:defRPr>
            </a:lvl4pPr>
            <a:lvl5pPr marL="1332230" indent="-285750" algn="l" defTabSz="914400" rtl="0" eaLnBrk="1" fontAlgn="auto" latinLnBrk="0" hangingPunct="1">
              <a:lnSpc>
                <a:spcPct val="10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800" b="1" dirty="0" err="1"/>
              <a:t>Giấy</a:t>
            </a:r>
            <a:r>
              <a:rPr lang="en-US" sz="2800" b="1" dirty="0"/>
              <a:t> in </a:t>
            </a:r>
            <a:r>
              <a:rPr lang="en-US" sz="2800" b="1" dirty="0" err="1"/>
              <a:t>mạch</a:t>
            </a:r>
            <a:endParaRPr lang="en-US" sz="2800" b="1" dirty="0"/>
          </a:p>
          <a:p>
            <a:pPr marL="0" indent="0">
              <a:buNone/>
            </a:pPr>
            <a:r>
              <a:rPr lang="vi-VN" dirty="0"/>
              <a:t>Giấy láng giúp mực in Laser bám hờ, dễ dàng bong ra khi gặp nhiệt và dính vào phíp đồng.</a:t>
            </a:r>
          </a:p>
        </p:txBody>
      </p:sp>
      <p:sp>
        <p:nvSpPr>
          <p:cNvPr id="5" name="Content Placeholder 1">
            <a:extLst>
              <a:ext uri="{FF2B5EF4-FFF2-40B4-BE49-F238E27FC236}">
                <a16:creationId xmlns:a16="http://schemas.microsoft.com/office/drawing/2014/main" id="{5323B445-EF87-B7C7-11C6-E7720CCCAA5B}"/>
              </a:ext>
            </a:extLst>
          </p:cNvPr>
          <p:cNvSpPr txBox="1">
            <a:spLocks/>
          </p:cNvSpPr>
          <p:nvPr/>
        </p:nvSpPr>
        <p:spPr>
          <a:xfrm>
            <a:off x="7969097" y="1495095"/>
            <a:ext cx="3300621" cy="441502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j-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j-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j-lt"/>
                <a:ea typeface="+mn-ea"/>
                <a:cs typeface="+mn-cs"/>
              </a:defRPr>
            </a:lvl3pPr>
            <a:lvl4pPr marL="1043940" indent="-285750" algn="l" defTabSz="914400" rtl="0" eaLnBrk="1" fontAlgn="auto" latinLnBrk="0" hangingPunct="1">
              <a:lnSpc>
                <a:spcPct val="100000"/>
              </a:lnSpc>
              <a:spcBef>
                <a:spcPts val="500"/>
              </a:spcBef>
              <a:buFont typeface="Arial" panose="020B0604020202020204" pitchFamily="34" charset="0"/>
              <a:buChar char="•"/>
              <a:defRPr sz="1800" kern="1200">
                <a:solidFill>
                  <a:schemeClr val="tx1"/>
                </a:solidFill>
                <a:latin typeface="+mj-lt"/>
                <a:ea typeface="+mn-ea"/>
                <a:cs typeface="+mn-cs"/>
              </a:defRPr>
            </a:lvl4pPr>
            <a:lvl5pPr marL="1332230" indent="-285750" algn="l" defTabSz="914400" rtl="0" eaLnBrk="1" fontAlgn="auto" latinLnBrk="0" hangingPunct="1">
              <a:lnSpc>
                <a:spcPct val="10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vi-VN" b="1" dirty="0"/>
              <a:t>Bột sắt (FeCl3)</a:t>
            </a:r>
          </a:p>
          <a:p>
            <a:pPr marL="0" indent="0">
              <a:buNone/>
            </a:pPr>
            <a:r>
              <a:rPr lang="vi-VN" dirty="0"/>
              <a:t>Hóa chất ăn mòn những phần đồng không được phủ mực, tạo nên các đường mạch.</a:t>
            </a:r>
          </a:p>
        </p:txBody>
      </p:sp>
    </p:spTree>
    <p:extLst>
      <p:ext uri="{BB962C8B-B14F-4D97-AF65-F5344CB8AC3E}">
        <p14:creationId xmlns:p14="http://schemas.microsoft.com/office/powerpoint/2010/main" val="1052655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8427D3-FD93-F2C8-65FF-11E452AB0165}"/>
              </a:ext>
            </a:extLst>
          </p:cNvPr>
          <p:cNvSpPr>
            <a:spLocks noGrp="1"/>
          </p:cNvSpPr>
          <p:nvPr>
            <p:ph idx="1"/>
          </p:nvPr>
        </p:nvSpPr>
        <p:spPr/>
        <p:txBody>
          <a:bodyPr/>
          <a:lstStyle/>
          <a:p>
            <a:pPr marL="0" indent="0" algn="ctr">
              <a:buNone/>
            </a:pPr>
            <a:r>
              <a:rPr lang="en-US" b="1" dirty="0"/>
              <a:t>	</a:t>
            </a:r>
            <a:r>
              <a:rPr lang="vi-VN" sz="3200" b="1" dirty="0"/>
              <a:t>Cấu tạo:</a:t>
            </a:r>
            <a:r>
              <a:rPr lang="vi-VN" sz="3200" dirty="0"/>
              <a:t> Gồm sợi thủy tinh hoặc nhựa Bakelite làm lõi cách điện, phía trên ép lớp đồng mỏng (35µm).</a:t>
            </a:r>
          </a:p>
          <a:p>
            <a:pPr marL="0" indent="0">
              <a:buNone/>
            </a:pPr>
            <a:r>
              <a:rPr lang="vi-VN" sz="3200" b="1" dirty="0"/>
              <a:t>Tác dụng:</a:t>
            </a:r>
            <a:endParaRPr lang="vi-VN" sz="3200" dirty="0"/>
          </a:p>
          <a:p>
            <a:r>
              <a:rPr lang="vi-VN" sz="3200" dirty="0"/>
              <a:t>Cố định linh kiện NE555, trở, tụ.</a:t>
            </a:r>
          </a:p>
          <a:p>
            <a:r>
              <a:rPr lang="vi-VN" sz="3200" dirty="0"/>
              <a:t>Tạo mặt phẳng dẫn điện đồng nhất.</a:t>
            </a:r>
          </a:p>
          <a:p>
            <a:r>
              <a:rPr lang="vi-VN" sz="3200" dirty="0"/>
              <a:t>Tản nhiệt một phần cho linh kiện.</a:t>
            </a:r>
          </a:p>
          <a:p>
            <a:endParaRPr lang="vi-VN" dirty="0"/>
          </a:p>
        </p:txBody>
      </p:sp>
      <p:sp>
        <p:nvSpPr>
          <p:cNvPr id="3" name="Title 2">
            <a:extLst>
              <a:ext uri="{FF2B5EF4-FFF2-40B4-BE49-F238E27FC236}">
                <a16:creationId xmlns:a16="http://schemas.microsoft.com/office/drawing/2014/main" id="{1AD8130A-27E1-36D4-7349-679DCC0D65DF}"/>
              </a:ext>
            </a:extLst>
          </p:cNvPr>
          <p:cNvSpPr>
            <a:spLocks noGrp="1"/>
          </p:cNvSpPr>
          <p:nvPr>
            <p:ph type="title"/>
          </p:nvPr>
        </p:nvSpPr>
        <p:spPr>
          <a:xfrm>
            <a:off x="168428" y="661539"/>
            <a:ext cx="11662410" cy="461010"/>
          </a:xfrm>
        </p:spPr>
        <p:txBody>
          <a:bodyPr/>
          <a:lstStyle/>
          <a:p>
            <a:r>
              <a:rPr lang="vi-VN" cap="all" dirty="0"/>
              <a:t>Phíp Đồng (Copper Clad Board)</a:t>
            </a:r>
            <a:br>
              <a:rPr lang="vi-VN" cap="all" dirty="0"/>
            </a:br>
            <a:endParaRPr lang="vi-VN" dirty="0"/>
          </a:p>
        </p:txBody>
      </p:sp>
      <p:pic>
        <p:nvPicPr>
          <p:cNvPr id="5" name="Picture 4">
            <a:extLst>
              <a:ext uri="{FF2B5EF4-FFF2-40B4-BE49-F238E27FC236}">
                <a16:creationId xmlns:a16="http://schemas.microsoft.com/office/drawing/2014/main" id="{A6188747-415D-E16A-7AF4-5E3454849DA0}"/>
              </a:ext>
            </a:extLst>
          </p:cNvPr>
          <p:cNvPicPr>
            <a:picLocks noChangeAspect="1"/>
          </p:cNvPicPr>
          <p:nvPr/>
        </p:nvPicPr>
        <p:blipFill>
          <a:blip r:embed="rId2"/>
          <a:stretch>
            <a:fillRect/>
          </a:stretch>
        </p:blipFill>
        <p:spPr>
          <a:xfrm>
            <a:off x="6672105" y="2591711"/>
            <a:ext cx="3455250" cy="2694181"/>
          </a:xfrm>
          <a:prstGeom prst="rect">
            <a:avLst/>
          </a:prstGeom>
        </p:spPr>
      </p:pic>
    </p:spTree>
    <p:extLst>
      <p:ext uri="{BB962C8B-B14F-4D97-AF65-F5344CB8AC3E}">
        <p14:creationId xmlns:p14="http://schemas.microsoft.com/office/powerpoint/2010/main" val="856800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17E482-3CB2-68D7-4951-C80D7A744460}"/>
              </a:ext>
            </a:extLst>
          </p:cNvPr>
          <p:cNvSpPr>
            <a:spLocks noGrp="1"/>
          </p:cNvSpPr>
          <p:nvPr>
            <p:ph idx="1"/>
          </p:nvPr>
        </p:nvSpPr>
        <p:spPr>
          <a:xfrm>
            <a:off x="5820629" y="1040819"/>
            <a:ext cx="5720125" cy="4776361"/>
          </a:xfrm>
        </p:spPr>
        <p:txBody>
          <a:bodyPr/>
          <a:lstStyle/>
          <a:p>
            <a:pPr marL="0" indent="0">
              <a:buNone/>
            </a:pPr>
            <a:r>
              <a:rPr lang="vi-VN" b="1" dirty="0"/>
              <a:t>Yêu cầu kỹ thuật:</a:t>
            </a:r>
          </a:p>
          <a:p>
            <a:r>
              <a:rPr lang="vi-VN" dirty="0"/>
              <a:t>Giấy in phải dùng máy in </a:t>
            </a:r>
            <a:r>
              <a:rPr lang="vi-VN" b="1" dirty="0"/>
              <a:t>Laser</a:t>
            </a:r>
            <a:r>
              <a:rPr lang="vi-VN" dirty="0"/>
              <a:t> (in mực bột).</a:t>
            </a:r>
          </a:p>
          <a:p>
            <a:r>
              <a:rPr lang="vi-VN" dirty="0"/>
              <a:t>Giấy nhám chọn loại mịn (P800 - P1200) để không làm xước sâu.</a:t>
            </a:r>
          </a:p>
          <a:p>
            <a:r>
              <a:rPr lang="vi-VN" dirty="0"/>
              <a:t>Vệ sinh sạch dầu mỡ sau khi nhám.</a:t>
            </a:r>
          </a:p>
          <a:p>
            <a:endParaRPr lang="vi-VN" dirty="0"/>
          </a:p>
        </p:txBody>
      </p:sp>
      <p:sp>
        <p:nvSpPr>
          <p:cNvPr id="3" name="Title 2">
            <a:extLst>
              <a:ext uri="{FF2B5EF4-FFF2-40B4-BE49-F238E27FC236}">
                <a16:creationId xmlns:a16="http://schemas.microsoft.com/office/drawing/2014/main" id="{19C1FA5A-B8F3-4FFD-740C-DFC4E9B4342F}"/>
              </a:ext>
            </a:extLst>
          </p:cNvPr>
          <p:cNvSpPr>
            <a:spLocks noGrp="1"/>
          </p:cNvSpPr>
          <p:nvPr>
            <p:ph type="title"/>
          </p:nvPr>
        </p:nvSpPr>
        <p:spPr>
          <a:xfrm>
            <a:off x="223608" y="673362"/>
            <a:ext cx="11662410" cy="461010"/>
          </a:xfrm>
        </p:spPr>
        <p:txBody>
          <a:bodyPr/>
          <a:lstStyle/>
          <a:p>
            <a:r>
              <a:rPr lang="vi-VN" cap="all" dirty="0"/>
              <a:t>Giấy nhám &amp; Giấy in mạch</a:t>
            </a:r>
            <a:br>
              <a:rPr lang="vi-VN" cap="all" dirty="0"/>
            </a:br>
            <a:endParaRPr lang="vi-VN" dirty="0"/>
          </a:p>
        </p:txBody>
      </p:sp>
      <p:sp>
        <p:nvSpPr>
          <p:cNvPr id="6" name="Content Placeholder 1">
            <a:extLst>
              <a:ext uri="{FF2B5EF4-FFF2-40B4-BE49-F238E27FC236}">
                <a16:creationId xmlns:a16="http://schemas.microsoft.com/office/drawing/2014/main" id="{637651D9-2503-5717-F69D-D7E9DFFA87C7}"/>
              </a:ext>
            </a:extLst>
          </p:cNvPr>
          <p:cNvSpPr txBox="1">
            <a:spLocks/>
          </p:cNvSpPr>
          <p:nvPr/>
        </p:nvSpPr>
        <p:spPr>
          <a:xfrm>
            <a:off x="477763" y="1134372"/>
            <a:ext cx="4750083" cy="477636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j-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j-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j-lt"/>
                <a:ea typeface="+mn-ea"/>
                <a:cs typeface="+mn-cs"/>
              </a:defRPr>
            </a:lvl3pPr>
            <a:lvl4pPr marL="1043940" indent="-285750" algn="l" defTabSz="914400" rtl="0" eaLnBrk="1" fontAlgn="auto" latinLnBrk="0" hangingPunct="1">
              <a:lnSpc>
                <a:spcPct val="100000"/>
              </a:lnSpc>
              <a:spcBef>
                <a:spcPts val="500"/>
              </a:spcBef>
              <a:buFont typeface="Arial" panose="020B0604020202020204" pitchFamily="34" charset="0"/>
              <a:buChar char="•"/>
              <a:defRPr sz="1800" kern="1200">
                <a:solidFill>
                  <a:schemeClr val="tx1"/>
                </a:solidFill>
                <a:latin typeface="+mj-lt"/>
                <a:ea typeface="+mn-ea"/>
                <a:cs typeface="+mn-cs"/>
              </a:defRPr>
            </a:lvl4pPr>
            <a:lvl5pPr marL="1332230" indent="-285750" algn="l" defTabSz="914400" rtl="0" eaLnBrk="1" fontAlgn="auto" latinLnBrk="0" hangingPunct="1">
              <a:lnSpc>
                <a:spcPct val="10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b="1" dirty="0"/>
              <a:t>Làm sạch &amp; Truyền tải</a:t>
            </a:r>
          </a:p>
          <a:p>
            <a:r>
              <a:rPr lang="vi-VN" b="1" dirty="0"/>
              <a:t>Giấy nhám:</a:t>
            </a:r>
            <a:r>
              <a:rPr lang="vi-VN" dirty="0"/>
              <a:t> Loại bỏ lớp Oxy hóa bám trên bề mặt đồng, giúp mực bám dính cực tốt.</a:t>
            </a:r>
          </a:p>
          <a:p>
            <a:r>
              <a:rPr lang="vi-VN" b="1" dirty="0"/>
              <a:t>Giấy in:</a:t>
            </a:r>
            <a:r>
              <a:rPr lang="vi-VN" dirty="0"/>
              <a:t> Giữ hình ảnh thiết kế từ máy</a:t>
            </a:r>
          </a:p>
          <a:p>
            <a:endParaRPr lang="vi-VN" dirty="0"/>
          </a:p>
        </p:txBody>
      </p:sp>
      <p:pic>
        <p:nvPicPr>
          <p:cNvPr id="4" name="Picture 3" descr="Giấy nhám giấy ( tờ ) 120-150-180">
            <a:extLst>
              <a:ext uri="{FF2B5EF4-FFF2-40B4-BE49-F238E27FC236}">
                <a16:creationId xmlns:a16="http://schemas.microsoft.com/office/drawing/2014/main" id="{ED20435C-7B15-5FEB-3885-7A58E5F4FA2E}"/>
              </a:ext>
            </a:extLst>
          </p:cNvPr>
          <p:cNvPicPr>
            <a:picLocks noChangeAspect="1"/>
          </p:cNvPicPr>
          <p:nvPr/>
        </p:nvPicPr>
        <p:blipFill>
          <a:blip r:embed="rId2"/>
          <a:stretch>
            <a:fillRect/>
          </a:stretch>
        </p:blipFill>
        <p:spPr>
          <a:xfrm>
            <a:off x="558137" y="3961292"/>
            <a:ext cx="4116614" cy="2569943"/>
          </a:xfrm>
          <a:prstGeom prst="rect">
            <a:avLst/>
          </a:prstGeom>
        </p:spPr>
      </p:pic>
      <p:pic>
        <p:nvPicPr>
          <p:cNvPr id="5" name="Picture 4" descr="Giấy in mạch làm PCB">
            <a:extLst>
              <a:ext uri="{FF2B5EF4-FFF2-40B4-BE49-F238E27FC236}">
                <a16:creationId xmlns:a16="http://schemas.microsoft.com/office/drawing/2014/main" id="{30510696-412A-8AF7-478E-3AA5714BF553}"/>
              </a:ext>
            </a:extLst>
          </p:cNvPr>
          <p:cNvPicPr>
            <a:picLocks noChangeAspect="1"/>
          </p:cNvPicPr>
          <p:nvPr/>
        </p:nvPicPr>
        <p:blipFill>
          <a:blip r:embed="rId3"/>
          <a:stretch>
            <a:fillRect/>
          </a:stretch>
        </p:blipFill>
        <p:spPr>
          <a:xfrm>
            <a:off x="4844743" y="3853618"/>
            <a:ext cx="3393527" cy="26288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652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7D411-F38B-A8BB-D25F-30730E2C82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13BDCF-6441-D4F8-1F77-6A4F3D3AB62D}"/>
              </a:ext>
            </a:extLst>
          </p:cNvPr>
          <p:cNvSpPr>
            <a:spLocks noGrp="1"/>
          </p:cNvSpPr>
          <p:nvPr>
            <p:ph idx="1"/>
          </p:nvPr>
        </p:nvSpPr>
        <p:spPr>
          <a:xfrm>
            <a:off x="4117055" y="1809387"/>
            <a:ext cx="3769645" cy="4776361"/>
          </a:xfrm>
        </p:spPr>
        <p:txBody>
          <a:bodyPr/>
          <a:lstStyle/>
          <a:p>
            <a:pPr marL="0" indent="0">
              <a:buNone/>
            </a:pPr>
            <a:r>
              <a:rPr lang="vi-VN" b="1" dirty="0"/>
              <a:t>Bột sắt ngâm mạch (FeCl3)</a:t>
            </a:r>
          </a:p>
          <a:p>
            <a:r>
              <a:rPr lang="vi-VN" dirty="0"/>
              <a:t>Hòa tan vào nước để tạo dung dịch ăn mòn. Phản ứng hóa học sẽ lấy đi lớp đồng thừa.</a:t>
            </a:r>
          </a:p>
          <a:p>
            <a:endParaRPr lang="vi-VN" dirty="0"/>
          </a:p>
        </p:txBody>
      </p:sp>
      <p:sp>
        <p:nvSpPr>
          <p:cNvPr id="3" name="Title 2">
            <a:extLst>
              <a:ext uri="{FF2B5EF4-FFF2-40B4-BE49-F238E27FC236}">
                <a16:creationId xmlns:a16="http://schemas.microsoft.com/office/drawing/2014/main" id="{DE8E5F34-1672-8FD0-B362-A92F9CEABB03}"/>
              </a:ext>
            </a:extLst>
          </p:cNvPr>
          <p:cNvSpPr>
            <a:spLocks noGrp="1"/>
          </p:cNvSpPr>
          <p:nvPr>
            <p:ph type="title"/>
          </p:nvPr>
        </p:nvSpPr>
        <p:spPr>
          <a:xfrm>
            <a:off x="223608" y="673362"/>
            <a:ext cx="11662410" cy="461010"/>
          </a:xfrm>
        </p:spPr>
        <p:txBody>
          <a:bodyPr/>
          <a:lstStyle/>
          <a:p>
            <a:r>
              <a:rPr lang="vi-VN" cap="all" dirty="0"/>
              <a:t>Máy khoan &amp; Bột sắt ngâm</a:t>
            </a:r>
            <a:br>
              <a:rPr lang="vi-VN" cap="all" dirty="0"/>
            </a:br>
            <a:endParaRPr lang="vi-VN" dirty="0"/>
          </a:p>
        </p:txBody>
      </p:sp>
      <p:sp>
        <p:nvSpPr>
          <p:cNvPr id="6" name="Content Placeholder 1">
            <a:extLst>
              <a:ext uri="{FF2B5EF4-FFF2-40B4-BE49-F238E27FC236}">
                <a16:creationId xmlns:a16="http://schemas.microsoft.com/office/drawing/2014/main" id="{7A1EE3B8-3898-EB86-594A-B4E381F67F40}"/>
              </a:ext>
            </a:extLst>
          </p:cNvPr>
          <p:cNvSpPr txBox="1">
            <a:spLocks/>
          </p:cNvSpPr>
          <p:nvPr/>
        </p:nvSpPr>
        <p:spPr>
          <a:xfrm>
            <a:off x="223608" y="1809386"/>
            <a:ext cx="3769645" cy="477636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j-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j-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j-lt"/>
                <a:ea typeface="+mn-ea"/>
                <a:cs typeface="+mn-cs"/>
              </a:defRPr>
            </a:lvl3pPr>
            <a:lvl4pPr marL="1043940" indent="-285750" algn="l" defTabSz="914400" rtl="0" eaLnBrk="1" fontAlgn="auto" latinLnBrk="0" hangingPunct="1">
              <a:lnSpc>
                <a:spcPct val="100000"/>
              </a:lnSpc>
              <a:spcBef>
                <a:spcPts val="500"/>
              </a:spcBef>
              <a:buFont typeface="Arial" panose="020B0604020202020204" pitchFamily="34" charset="0"/>
              <a:buChar char="•"/>
              <a:defRPr sz="1800" kern="1200">
                <a:solidFill>
                  <a:schemeClr val="tx1"/>
                </a:solidFill>
                <a:latin typeface="+mj-lt"/>
                <a:ea typeface="+mn-ea"/>
                <a:cs typeface="+mn-cs"/>
              </a:defRPr>
            </a:lvl4pPr>
            <a:lvl5pPr marL="1332230" indent="-285750" algn="l" defTabSz="914400" rtl="0" eaLnBrk="1" fontAlgn="auto" latinLnBrk="0" hangingPunct="1">
              <a:lnSpc>
                <a:spcPct val="10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b="1" dirty="0"/>
              <a:t>Máy khoan mini</a:t>
            </a:r>
          </a:p>
          <a:p>
            <a:r>
              <a:rPr lang="vi-VN" dirty="0"/>
              <a:t>Thiết bị tốc độ cao giúp tạo lỗ chuẩn xác cho linh kiện xuyên lỗ (Through-hole). Mũi khoan thường dùng: 0.8mm - 1.0mm.</a:t>
            </a:r>
          </a:p>
          <a:p>
            <a:endParaRPr lang="vi-VN" dirty="0"/>
          </a:p>
        </p:txBody>
      </p:sp>
      <p:pic>
        <p:nvPicPr>
          <p:cNvPr id="9" name="Picture 8">
            <a:extLst>
              <a:ext uri="{FF2B5EF4-FFF2-40B4-BE49-F238E27FC236}">
                <a16:creationId xmlns:a16="http://schemas.microsoft.com/office/drawing/2014/main" id="{7A19A744-F05A-444D-4F02-6CF13F40E934}"/>
              </a:ext>
            </a:extLst>
          </p:cNvPr>
          <p:cNvPicPr>
            <a:picLocks noChangeAspect="1"/>
          </p:cNvPicPr>
          <p:nvPr/>
        </p:nvPicPr>
        <p:blipFill>
          <a:blip r:embed="rId2"/>
          <a:stretch>
            <a:fillRect/>
          </a:stretch>
        </p:blipFill>
        <p:spPr>
          <a:xfrm>
            <a:off x="9037583" y="1085192"/>
            <a:ext cx="2674882" cy="26748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a:extLst>
              <a:ext uri="{FF2B5EF4-FFF2-40B4-BE49-F238E27FC236}">
                <a16:creationId xmlns:a16="http://schemas.microsoft.com/office/drawing/2014/main" id="{8E7E3E6A-1C73-74B8-78B7-0126ECADBD5A}"/>
              </a:ext>
            </a:extLst>
          </p:cNvPr>
          <p:cNvPicPr>
            <a:picLocks noChangeAspect="1"/>
          </p:cNvPicPr>
          <p:nvPr/>
        </p:nvPicPr>
        <p:blipFill>
          <a:blip r:embed="rId3"/>
          <a:stretch>
            <a:fillRect/>
          </a:stretch>
        </p:blipFill>
        <p:spPr>
          <a:xfrm>
            <a:off x="9037583" y="4144227"/>
            <a:ext cx="3129633" cy="2347224"/>
          </a:xfrm>
          <a:prstGeom prst="rect">
            <a:avLst/>
          </a:prstGeom>
        </p:spPr>
      </p:pic>
    </p:spTree>
    <p:extLst>
      <p:ext uri="{BB962C8B-B14F-4D97-AF65-F5344CB8AC3E}">
        <p14:creationId xmlns:p14="http://schemas.microsoft.com/office/powerpoint/2010/main" val="4265329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7E22E-8EBF-9EB9-3846-26926971CF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E6063F-4AAB-4A51-0B5E-32EF56E957D5}"/>
              </a:ext>
            </a:extLst>
          </p:cNvPr>
          <p:cNvSpPr>
            <a:spLocks noGrp="1"/>
          </p:cNvSpPr>
          <p:nvPr>
            <p:ph idx="1"/>
          </p:nvPr>
        </p:nvSpPr>
        <p:spPr>
          <a:xfrm>
            <a:off x="196019" y="1114665"/>
            <a:ext cx="11480056" cy="2858245"/>
          </a:xfrm>
        </p:spPr>
        <p:txBody>
          <a:bodyPr>
            <a:normAutofit/>
          </a:bodyPr>
          <a:lstStyle/>
          <a:p>
            <a:r>
              <a:rPr lang="vi-VN" dirty="0"/>
              <a:t>Đây là bước </a:t>
            </a:r>
            <a:r>
              <a:rPr lang="en-US" dirty="0"/>
              <a:t>“</a:t>
            </a:r>
            <a:r>
              <a:rPr lang="vi-VN" dirty="0"/>
              <a:t>quan trọng nhất</a:t>
            </a:r>
            <a:r>
              <a:rPr lang="en-US" dirty="0"/>
              <a:t>”</a:t>
            </a:r>
            <a:r>
              <a:rPr lang="vi-VN" dirty="0"/>
              <a:t> để mực có thể bám vào mạch.</a:t>
            </a:r>
          </a:p>
          <a:p>
            <a:r>
              <a:rPr lang="vi-VN" dirty="0"/>
              <a:t>Dùng giấy nhám chà nhẹ nhàng theo hình tròn hoặc một chiều.</a:t>
            </a:r>
          </a:p>
          <a:p>
            <a:r>
              <a:rPr lang="vi-VN" dirty="0"/>
              <a:t>Chà cho đến khi lớp đồng sáng lên và không còn vết ố.</a:t>
            </a:r>
          </a:p>
          <a:p>
            <a:r>
              <a:rPr lang="vi-VN" b="1" dirty="0"/>
              <a:t>Chú ý:</a:t>
            </a:r>
            <a:r>
              <a:rPr lang="vi-VN" dirty="0"/>
              <a:t> Sau khi chà xong, </a:t>
            </a:r>
            <a:r>
              <a:rPr lang="en-US" dirty="0"/>
              <a:t>KHÔNG NÊN</a:t>
            </a:r>
            <a:r>
              <a:rPr lang="vi-VN" dirty="0"/>
              <a:t> chạm tay vào bề mặt đồng để tránh mồ hôi làm bẩn.</a:t>
            </a:r>
          </a:p>
          <a:p>
            <a:endParaRPr lang="vi-VN" sz="2800" dirty="0"/>
          </a:p>
        </p:txBody>
      </p:sp>
      <p:pic>
        <p:nvPicPr>
          <p:cNvPr id="7" name="Picture 6">
            <a:extLst>
              <a:ext uri="{FF2B5EF4-FFF2-40B4-BE49-F238E27FC236}">
                <a16:creationId xmlns:a16="http://schemas.microsoft.com/office/drawing/2014/main" id="{2C517087-5134-286A-0E3D-FAF94E45AA31}"/>
              </a:ext>
            </a:extLst>
          </p:cNvPr>
          <p:cNvPicPr>
            <a:picLocks noChangeAspect="1"/>
          </p:cNvPicPr>
          <p:nvPr/>
        </p:nvPicPr>
        <p:blipFill>
          <a:blip r:embed="rId2"/>
          <a:stretch>
            <a:fillRect/>
          </a:stretch>
        </p:blipFill>
        <p:spPr>
          <a:xfrm>
            <a:off x="2586420" y="3168629"/>
            <a:ext cx="5856015" cy="32940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itle 8">
            <a:extLst>
              <a:ext uri="{FF2B5EF4-FFF2-40B4-BE49-F238E27FC236}">
                <a16:creationId xmlns:a16="http://schemas.microsoft.com/office/drawing/2014/main" id="{8F3EAC05-7B62-BFE8-E584-66D6DC1AA23B}"/>
              </a:ext>
            </a:extLst>
          </p:cNvPr>
          <p:cNvSpPr>
            <a:spLocks noGrp="1"/>
          </p:cNvSpPr>
          <p:nvPr>
            <p:ph type="title"/>
          </p:nvPr>
        </p:nvSpPr>
        <p:spPr/>
        <p:txBody>
          <a:bodyPr/>
          <a:lstStyle/>
          <a:p>
            <a:r>
              <a:rPr lang="en-US" dirty="0"/>
              <a:t>BƯỚC 1: CHÀ BÓNG MẠCH ĐIỆN</a:t>
            </a:r>
            <a:endParaRPr lang="vi-VN" dirty="0"/>
          </a:p>
        </p:txBody>
      </p:sp>
    </p:spTree>
    <p:extLst>
      <p:ext uri="{BB962C8B-B14F-4D97-AF65-F5344CB8AC3E}">
        <p14:creationId xmlns:p14="http://schemas.microsoft.com/office/powerpoint/2010/main" val="3099100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2C121-8385-4C00-4A85-084C188A28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0B9E55-C5C5-4166-1BE2-967C6D3F8BBB}"/>
              </a:ext>
            </a:extLst>
          </p:cNvPr>
          <p:cNvSpPr>
            <a:spLocks noGrp="1"/>
          </p:cNvSpPr>
          <p:nvPr>
            <p:ph idx="1"/>
          </p:nvPr>
        </p:nvSpPr>
        <p:spPr>
          <a:xfrm>
            <a:off x="150801" y="1648563"/>
            <a:ext cx="8043327" cy="4555168"/>
          </a:xfrm>
        </p:spPr>
        <p:txBody>
          <a:bodyPr>
            <a:normAutofit/>
          </a:bodyPr>
          <a:lstStyle/>
          <a:p>
            <a:r>
              <a:rPr lang="vi-VN" sz="2800" dirty="0"/>
              <a:t>Truyền hình ảnh từ giấy sang phíp đồng bằng bàn là.</a:t>
            </a:r>
          </a:p>
          <a:p>
            <a:r>
              <a:rPr lang="vi-VN" sz="2800" dirty="0"/>
              <a:t>Đặt mặt in áp vào mặt đồng đã sạch.</a:t>
            </a:r>
          </a:p>
          <a:p>
            <a:r>
              <a:rPr lang="vi-VN" sz="2800" dirty="0"/>
              <a:t>Cài nhiệt độ bàn là ở mức cao (thường là nấc lụa/cotton).</a:t>
            </a:r>
          </a:p>
          <a:p>
            <a:r>
              <a:rPr lang="vi-VN" sz="2800" dirty="0"/>
              <a:t>Đè mạnh và di chuyển bàn là đều khắp các góc cạnh trong 5-10 phút.</a:t>
            </a:r>
            <a:endParaRPr lang="en-US" sz="2800" dirty="0"/>
          </a:p>
          <a:p>
            <a:r>
              <a:rPr lang="en-US" sz="2800" dirty="0"/>
              <a:t>Tiến </a:t>
            </a:r>
            <a:r>
              <a:rPr lang="en-US" sz="2800" dirty="0" err="1"/>
              <a:t>hành</a:t>
            </a:r>
            <a:r>
              <a:rPr lang="en-US" sz="2800" dirty="0"/>
              <a:t> </a:t>
            </a:r>
            <a:r>
              <a:rPr lang="en-US" sz="2800" dirty="0" err="1"/>
              <a:t>tháo</a:t>
            </a:r>
            <a:r>
              <a:rPr lang="en-US" sz="2800" dirty="0"/>
              <a:t> </a:t>
            </a:r>
            <a:r>
              <a:rPr lang="en-US" sz="2800" dirty="0" err="1"/>
              <a:t>giấy</a:t>
            </a:r>
            <a:r>
              <a:rPr lang="en-US" sz="2800" dirty="0"/>
              <a:t> in </a:t>
            </a:r>
            <a:r>
              <a:rPr lang="en-US" sz="2800" dirty="0" err="1"/>
              <a:t>mạch</a:t>
            </a:r>
            <a:r>
              <a:rPr lang="en-US" sz="2800" dirty="0"/>
              <a:t> </a:t>
            </a:r>
            <a:r>
              <a:rPr lang="en-US" sz="2800" dirty="0" err="1"/>
              <a:t>nhẹ</a:t>
            </a:r>
            <a:r>
              <a:rPr lang="en-US" sz="2800" dirty="0"/>
              <a:t> </a:t>
            </a:r>
            <a:r>
              <a:rPr lang="en-US" sz="2800" dirty="0" err="1"/>
              <a:t>nhàng</a:t>
            </a:r>
            <a:r>
              <a:rPr lang="en-US" sz="2800" dirty="0"/>
              <a:t> </a:t>
            </a:r>
            <a:r>
              <a:rPr lang="en-US" sz="2800" dirty="0" err="1"/>
              <a:t>để</a:t>
            </a:r>
            <a:r>
              <a:rPr lang="en-US" sz="2800" dirty="0"/>
              <a:t> </a:t>
            </a:r>
            <a:r>
              <a:rPr lang="en-US" sz="2800" dirty="0" err="1"/>
              <a:t>không</a:t>
            </a:r>
            <a:r>
              <a:rPr lang="en-US" sz="2800" dirty="0"/>
              <a:t> </a:t>
            </a:r>
            <a:r>
              <a:rPr lang="en-US" sz="2800" dirty="0" err="1"/>
              <a:t>làm</a:t>
            </a:r>
            <a:r>
              <a:rPr lang="en-US" sz="2800" dirty="0"/>
              <a:t> </a:t>
            </a:r>
            <a:r>
              <a:rPr lang="en-US" sz="2800" dirty="0" err="1"/>
              <a:t>đứt</a:t>
            </a:r>
            <a:r>
              <a:rPr lang="en-US" sz="2800" dirty="0"/>
              <a:t> </a:t>
            </a:r>
            <a:r>
              <a:rPr lang="en-US" sz="2800" dirty="0" err="1"/>
              <a:t>đường</a:t>
            </a:r>
            <a:r>
              <a:rPr lang="en-US" sz="2800" dirty="0"/>
              <a:t> </a:t>
            </a:r>
            <a:r>
              <a:rPr lang="en-US" sz="2800" dirty="0" err="1"/>
              <a:t>mực</a:t>
            </a:r>
            <a:r>
              <a:rPr lang="en-US" sz="2800" dirty="0"/>
              <a:t> in</a:t>
            </a:r>
          </a:p>
          <a:p>
            <a:endParaRPr lang="vi-VN" sz="2800" dirty="0"/>
          </a:p>
          <a:p>
            <a:endParaRPr lang="vi-VN" sz="3200" dirty="0"/>
          </a:p>
        </p:txBody>
      </p:sp>
      <p:sp>
        <p:nvSpPr>
          <p:cNvPr id="6" name="Title 5">
            <a:extLst>
              <a:ext uri="{FF2B5EF4-FFF2-40B4-BE49-F238E27FC236}">
                <a16:creationId xmlns:a16="http://schemas.microsoft.com/office/drawing/2014/main" id="{31AA4D17-5682-4356-EE6A-20691EB63F3A}"/>
              </a:ext>
            </a:extLst>
          </p:cNvPr>
          <p:cNvSpPr>
            <a:spLocks noGrp="1"/>
          </p:cNvSpPr>
          <p:nvPr>
            <p:ph type="title"/>
          </p:nvPr>
        </p:nvSpPr>
        <p:spPr/>
        <p:txBody>
          <a:bodyPr/>
          <a:lstStyle/>
          <a:p>
            <a:r>
              <a:rPr lang="vi-VN" dirty="0"/>
              <a:t>Bước 2: Ủi mạch nhiệt</a:t>
            </a:r>
          </a:p>
        </p:txBody>
      </p:sp>
      <p:pic>
        <p:nvPicPr>
          <p:cNvPr id="8" name="Picture 7">
            <a:extLst>
              <a:ext uri="{FF2B5EF4-FFF2-40B4-BE49-F238E27FC236}">
                <a16:creationId xmlns:a16="http://schemas.microsoft.com/office/drawing/2014/main" id="{3552A5A3-C82D-78C2-CEE4-DC2DB10F4B9A}"/>
              </a:ext>
            </a:extLst>
          </p:cNvPr>
          <p:cNvPicPr>
            <a:picLocks noChangeAspect="1"/>
          </p:cNvPicPr>
          <p:nvPr/>
        </p:nvPicPr>
        <p:blipFill>
          <a:blip r:embed="rId2"/>
          <a:stretch>
            <a:fillRect/>
          </a:stretch>
        </p:blipFill>
        <p:spPr>
          <a:xfrm>
            <a:off x="8202961" y="1387897"/>
            <a:ext cx="3989039" cy="26554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30466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375FD-9314-678D-8C07-DA4C8706B5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C75C0F-DE1B-4B8F-FD4B-7E2D16315BCA}"/>
              </a:ext>
            </a:extLst>
          </p:cNvPr>
          <p:cNvSpPr>
            <a:spLocks noGrp="1"/>
          </p:cNvSpPr>
          <p:nvPr>
            <p:ph idx="1"/>
          </p:nvPr>
        </p:nvSpPr>
        <p:spPr>
          <a:xfrm>
            <a:off x="258445" y="1508321"/>
            <a:ext cx="8030781" cy="4721860"/>
          </a:xfrm>
        </p:spPr>
        <p:txBody>
          <a:bodyPr>
            <a:normAutofit/>
          </a:bodyPr>
          <a:lstStyle/>
          <a:p>
            <a:pPr marL="0" indent="0">
              <a:buNone/>
            </a:pPr>
            <a:r>
              <a:rPr lang="en-US" b="1" i="1" dirty="0"/>
              <a:t>  </a:t>
            </a:r>
            <a:r>
              <a:rPr lang="vi-VN" b="1" i="1" dirty="0"/>
              <a:t>Yêu cầu cốt lõi:</a:t>
            </a:r>
            <a:r>
              <a:rPr lang="vi-VN" i="1" dirty="0"/>
              <a:t> Giữ mũi khoan </a:t>
            </a:r>
            <a:r>
              <a:rPr lang="vi-VN" b="1" i="1" dirty="0"/>
              <a:t>luôn vuông góc (90°)</a:t>
            </a:r>
            <a:r>
              <a:rPr lang="vi-VN" i="1" dirty="0"/>
              <a:t> với bề mặt mạch.</a:t>
            </a:r>
            <a:endParaRPr lang="en-US" i="1" dirty="0"/>
          </a:p>
          <a:p>
            <a:r>
              <a:rPr lang="vi-VN" b="1" dirty="0"/>
              <a:t>Định tâm:</a:t>
            </a:r>
            <a:r>
              <a:rPr lang="vi-VN" dirty="0"/>
              <a:t> Đặt mũi khoan vào đúng tâm lỗ pad khi khởi động máy.</a:t>
            </a:r>
          </a:p>
          <a:p>
            <a:r>
              <a:rPr lang="vi-VN" b="1" dirty="0"/>
              <a:t>Biến trở:</a:t>
            </a:r>
            <a:r>
              <a:rPr lang="vi-VN" dirty="0"/>
              <a:t> Lưu ý khoan lỗ to hơn (1.2mm - 1.5mm) để vừa chân biến trở to.</a:t>
            </a:r>
          </a:p>
          <a:p>
            <a:r>
              <a:rPr lang="vi-VN" b="1" dirty="0"/>
              <a:t>Lực tì đè:</a:t>
            </a:r>
            <a:r>
              <a:rPr lang="vi-VN" dirty="0"/>
              <a:t> Tì lực nhẹ, đều. Không đè quá mạnh dễ làm gãy mũi khoan nhỏ.</a:t>
            </a:r>
          </a:p>
          <a:p>
            <a:endParaRPr lang="vi-VN" dirty="0"/>
          </a:p>
        </p:txBody>
      </p:sp>
      <p:sp>
        <p:nvSpPr>
          <p:cNvPr id="6" name="Title 5">
            <a:extLst>
              <a:ext uri="{FF2B5EF4-FFF2-40B4-BE49-F238E27FC236}">
                <a16:creationId xmlns:a16="http://schemas.microsoft.com/office/drawing/2014/main" id="{469B3972-4568-0AA7-8DD8-B791151945D2}"/>
              </a:ext>
            </a:extLst>
          </p:cNvPr>
          <p:cNvSpPr>
            <a:spLocks noGrp="1"/>
          </p:cNvSpPr>
          <p:nvPr>
            <p:ph type="title"/>
          </p:nvPr>
        </p:nvSpPr>
        <p:spPr>
          <a:xfrm>
            <a:off x="258445" y="-28258"/>
            <a:ext cx="10515600" cy="1325563"/>
          </a:xfrm>
        </p:spPr>
        <p:txBody>
          <a:bodyPr anchor="ctr">
            <a:normAutofit/>
          </a:bodyPr>
          <a:lstStyle/>
          <a:p>
            <a:r>
              <a:rPr lang="vi-VN" dirty="0">
                <a:solidFill>
                  <a:srgbClr val="032B91"/>
                </a:solidFill>
              </a:rPr>
              <a:t>Bước 3: Kỹ thuật khoan lỗ chuẩn</a:t>
            </a:r>
          </a:p>
        </p:txBody>
      </p:sp>
      <p:pic>
        <p:nvPicPr>
          <p:cNvPr id="4" name="Picture 3">
            <a:extLst>
              <a:ext uri="{FF2B5EF4-FFF2-40B4-BE49-F238E27FC236}">
                <a16:creationId xmlns:a16="http://schemas.microsoft.com/office/drawing/2014/main" id="{87B5C5E1-2ECA-1605-1534-38779BD77EE4}"/>
              </a:ext>
            </a:extLst>
          </p:cNvPr>
          <p:cNvPicPr>
            <a:picLocks noChangeAspect="1"/>
          </p:cNvPicPr>
          <p:nvPr/>
        </p:nvPicPr>
        <p:blipFill>
          <a:blip r:embed="rId2"/>
          <a:srcRect l="2106" r="710" b="3"/>
          <a:stretch>
            <a:fillRect/>
          </a:stretch>
        </p:blipFill>
        <p:spPr>
          <a:xfrm>
            <a:off x="8409807" y="1377692"/>
            <a:ext cx="3782193" cy="5188906"/>
          </a:xfrm>
          <a:prstGeom prst="rect">
            <a:avLst/>
          </a:prstGeom>
          <a:noFill/>
        </p:spPr>
      </p:pic>
    </p:spTree>
    <p:extLst>
      <p:ext uri="{BB962C8B-B14F-4D97-AF65-F5344CB8AC3E}">
        <p14:creationId xmlns:p14="http://schemas.microsoft.com/office/powerpoint/2010/main" val="34044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41C3-D268-741F-7C8D-B151D5BC33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4F9636-A0D5-8541-5B39-20471C7165F6}"/>
              </a:ext>
            </a:extLst>
          </p:cNvPr>
          <p:cNvSpPr>
            <a:spLocks noGrp="1"/>
          </p:cNvSpPr>
          <p:nvPr>
            <p:ph idx="1"/>
          </p:nvPr>
        </p:nvSpPr>
        <p:spPr>
          <a:xfrm>
            <a:off x="258445" y="1508321"/>
            <a:ext cx="8030781" cy="4721860"/>
          </a:xfrm>
        </p:spPr>
        <p:txBody>
          <a:bodyPr>
            <a:normAutofit/>
          </a:bodyPr>
          <a:lstStyle/>
          <a:p>
            <a:pPr marL="0" indent="0">
              <a:buNone/>
            </a:pPr>
            <a:r>
              <a:rPr lang="vi-VN" sz="2800" b="1" dirty="0"/>
              <a:t>Bước 4: Đồ bút lông</a:t>
            </a:r>
            <a:endParaRPr lang="vi-VN" sz="2800" dirty="0"/>
          </a:p>
          <a:p>
            <a:r>
              <a:rPr lang="vi-VN" sz="2800" dirty="0"/>
              <a:t>Kiểm tra các đường mạch sau khi ngâm nước bóc giấy. Nếu chỗ nào mực bị đứt, dùng bút lông dầu đồ lại cho kín.</a:t>
            </a:r>
          </a:p>
          <a:p>
            <a:pPr marL="0" indent="0">
              <a:buNone/>
            </a:pPr>
            <a:r>
              <a:rPr lang="vi-VN" sz="2800" b="1" dirty="0"/>
              <a:t>Bước 5: Rửa (Ăn mòn)</a:t>
            </a:r>
            <a:endParaRPr lang="vi-VN" sz="2800" dirty="0"/>
          </a:p>
          <a:p>
            <a:r>
              <a:rPr lang="vi-VN" sz="2800" dirty="0"/>
              <a:t>Pha bột sắt vào nước ấm. Thả mạch vào và lắc nhẹ thau. Dung dịch sẽ ăn mòn hết phần đồng thừa.</a:t>
            </a:r>
          </a:p>
          <a:p>
            <a:endParaRPr lang="vi-VN" sz="2800" dirty="0"/>
          </a:p>
        </p:txBody>
      </p:sp>
      <p:sp>
        <p:nvSpPr>
          <p:cNvPr id="6" name="Title 5">
            <a:extLst>
              <a:ext uri="{FF2B5EF4-FFF2-40B4-BE49-F238E27FC236}">
                <a16:creationId xmlns:a16="http://schemas.microsoft.com/office/drawing/2014/main" id="{DDF1A206-5D09-E5CD-047C-EA4FBDBAF66F}"/>
              </a:ext>
            </a:extLst>
          </p:cNvPr>
          <p:cNvSpPr>
            <a:spLocks noGrp="1"/>
          </p:cNvSpPr>
          <p:nvPr>
            <p:ph type="title"/>
          </p:nvPr>
        </p:nvSpPr>
        <p:spPr>
          <a:xfrm>
            <a:off x="258445" y="-28258"/>
            <a:ext cx="10515600" cy="1325563"/>
          </a:xfrm>
        </p:spPr>
        <p:txBody>
          <a:bodyPr anchor="ctr">
            <a:normAutofit/>
          </a:bodyPr>
          <a:lstStyle/>
          <a:p>
            <a:r>
              <a:rPr lang="vi-VN" dirty="0">
                <a:solidFill>
                  <a:srgbClr val="032B91"/>
                </a:solidFill>
              </a:rPr>
              <a:t>B</a:t>
            </a:r>
            <a:r>
              <a:rPr lang="en-US" dirty="0" err="1">
                <a:solidFill>
                  <a:srgbClr val="032B91"/>
                </a:solidFill>
              </a:rPr>
              <a:t>ước</a:t>
            </a:r>
            <a:r>
              <a:rPr lang="en-US" dirty="0">
                <a:solidFill>
                  <a:srgbClr val="032B91"/>
                </a:solidFill>
              </a:rPr>
              <a:t> </a:t>
            </a:r>
            <a:r>
              <a:rPr lang="vi-VN" dirty="0">
                <a:solidFill>
                  <a:srgbClr val="032B91"/>
                </a:solidFill>
              </a:rPr>
              <a:t>4: Đồ bút lông &amp; B</a:t>
            </a:r>
            <a:r>
              <a:rPr lang="en-US" dirty="0" err="1">
                <a:solidFill>
                  <a:srgbClr val="032B91"/>
                </a:solidFill>
              </a:rPr>
              <a:t>ước</a:t>
            </a:r>
            <a:r>
              <a:rPr lang="en-US" dirty="0">
                <a:solidFill>
                  <a:srgbClr val="032B91"/>
                </a:solidFill>
              </a:rPr>
              <a:t> </a:t>
            </a:r>
            <a:r>
              <a:rPr lang="vi-VN" dirty="0">
                <a:solidFill>
                  <a:srgbClr val="032B91"/>
                </a:solidFill>
              </a:rPr>
              <a:t>5: Rửa mạch</a:t>
            </a:r>
          </a:p>
        </p:txBody>
      </p:sp>
      <p:pic>
        <p:nvPicPr>
          <p:cNvPr id="5" name="Picture 4">
            <a:extLst>
              <a:ext uri="{FF2B5EF4-FFF2-40B4-BE49-F238E27FC236}">
                <a16:creationId xmlns:a16="http://schemas.microsoft.com/office/drawing/2014/main" id="{93C4ECCA-6CD5-31FE-791A-3BA7CFF885A0}"/>
              </a:ext>
            </a:extLst>
          </p:cNvPr>
          <p:cNvPicPr>
            <a:picLocks noChangeAspect="1"/>
          </p:cNvPicPr>
          <p:nvPr/>
        </p:nvPicPr>
        <p:blipFill>
          <a:blip r:embed="rId2"/>
          <a:stretch>
            <a:fillRect/>
          </a:stretch>
        </p:blipFill>
        <p:spPr>
          <a:xfrm>
            <a:off x="8639014" y="4100794"/>
            <a:ext cx="3552986" cy="2455755"/>
          </a:xfrm>
          <a:prstGeom prst="rect">
            <a:avLst/>
          </a:prstGeom>
        </p:spPr>
      </p:pic>
      <p:pic>
        <p:nvPicPr>
          <p:cNvPr id="8" name="Picture 7">
            <a:extLst>
              <a:ext uri="{FF2B5EF4-FFF2-40B4-BE49-F238E27FC236}">
                <a16:creationId xmlns:a16="http://schemas.microsoft.com/office/drawing/2014/main" id="{AF0F089D-9615-5C27-CC59-7C3FA91AA177}"/>
              </a:ext>
            </a:extLst>
          </p:cNvPr>
          <p:cNvPicPr>
            <a:picLocks noChangeAspect="1"/>
          </p:cNvPicPr>
          <p:nvPr/>
        </p:nvPicPr>
        <p:blipFill>
          <a:blip r:embed="rId3"/>
          <a:stretch>
            <a:fillRect/>
          </a:stretch>
        </p:blipFill>
        <p:spPr>
          <a:xfrm>
            <a:off x="9047703" y="1004835"/>
            <a:ext cx="2985198" cy="2985198"/>
          </a:xfrm>
          <a:prstGeom prst="rect">
            <a:avLst/>
          </a:prstGeom>
        </p:spPr>
      </p:pic>
    </p:spTree>
    <p:extLst>
      <p:ext uri="{BB962C8B-B14F-4D97-AF65-F5344CB8AC3E}">
        <p14:creationId xmlns:p14="http://schemas.microsoft.com/office/powerpoint/2010/main" val="4077189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DF7C-4DCA-92FF-760A-34F283C113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D52422-F6A6-E3A3-C130-F475506DFC25}"/>
              </a:ext>
            </a:extLst>
          </p:cNvPr>
          <p:cNvSpPr>
            <a:spLocks noGrp="1"/>
          </p:cNvSpPr>
          <p:nvPr>
            <p:ph idx="1"/>
          </p:nvPr>
        </p:nvSpPr>
        <p:spPr>
          <a:xfrm>
            <a:off x="33788" y="1374314"/>
            <a:ext cx="9039268" cy="4721860"/>
          </a:xfrm>
        </p:spPr>
        <p:txBody>
          <a:bodyPr>
            <a:normAutofit/>
          </a:bodyPr>
          <a:lstStyle/>
          <a:p>
            <a:pPr marL="0" indent="0">
              <a:buNone/>
            </a:pPr>
            <a:r>
              <a:rPr lang="en-US" dirty="0"/>
              <a:t>	</a:t>
            </a:r>
            <a:r>
              <a:rPr lang="vi-VN" sz="2800" b="1" i="1" dirty="0"/>
              <a:t>Đây là công đoạn cuối cùng để thấy được thành quả.</a:t>
            </a:r>
          </a:p>
          <a:p>
            <a:r>
              <a:rPr lang="vi-VN" dirty="0"/>
              <a:t>Dùng </a:t>
            </a:r>
            <a:r>
              <a:rPr lang="en-US" dirty="0" err="1"/>
              <a:t>giấy</a:t>
            </a:r>
            <a:r>
              <a:rPr lang="en-US" dirty="0"/>
              <a:t> </a:t>
            </a:r>
            <a:r>
              <a:rPr lang="en-US" dirty="0" err="1"/>
              <a:t>nhám</a:t>
            </a:r>
            <a:r>
              <a:rPr lang="en-US" dirty="0"/>
              <a:t> </a:t>
            </a:r>
            <a:r>
              <a:rPr lang="en-US" dirty="0" err="1"/>
              <a:t>mịn</a:t>
            </a:r>
            <a:r>
              <a:rPr lang="en-US" dirty="0"/>
              <a:t> </a:t>
            </a:r>
            <a:r>
              <a:rPr lang="en-US" dirty="0" err="1"/>
              <a:t>hoặc</a:t>
            </a:r>
            <a:r>
              <a:rPr lang="en-US" dirty="0"/>
              <a:t> </a:t>
            </a:r>
            <a:r>
              <a:rPr lang="en-US" dirty="0" err="1"/>
              <a:t>giấy</a:t>
            </a:r>
            <a:r>
              <a:rPr lang="en-US" dirty="0"/>
              <a:t> </a:t>
            </a:r>
            <a:r>
              <a:rPr lang="en-US" dirty="0" err="1"/>
              <a:t>nhám</a:t>
            </a:r>
            <a:r>
              <a:rPr lang="en-US" dirty="0"/>
              <a:t> </a:t>
            </a:r>
            <a:r>
              <a:rPr lang="en-US" dirty="0" err="1"/>
              <a:t>chà</a:t>
            </a:r>
            <a:r>
              <a:rPr lang="en-US" dirty="0"/>
              <a:t> </a:t>
            </a:r>
            <a:r>
              <a:rPr lang="en-US" dirty="0" err="1"/>
              <a:t>nhẹ</a:t>
            </a:r>
            <a:r>
              <a:rPr lang="en-US" dirty="0"/>
              <a:t> </a:t>
            </a:r>
            <a:r>
              <a:rPr lang="en-US" dirty="0" err="1"/>
              <a:t>mạch</a:t>
            </a:r>
            <a:r>
              <a:rPr lang="en-US" dirty="0"/>
              <a:t> </a:t>
            </a:r>
            <a:r>
              <a:rPr lang="en-US" dirty="0" err="1"/>
              <a:t>dưới</a:t>
            </a:r>
            <a:r>
              <a:rPr lang="en-US" dirty="0"/>
              <a:t> </a:t>
            </a:r>
            <a:r>
              <a:rPr lang="en-US" dirty="0" err="1"/>
              <a:t>nước</a:t>
            </a:r>
            <a:r>
              <a:rPr lang="en-US" dirty="0"/>
              <a:t> </a:t>
            </a:r>
            <a:r>
              <a:rPr lang="en-US" dirty="0" err="1"/>
              <a:t>để</a:t>
            </a:r>
            <a:r>
              <a:rPr lang="en-US" dirty="0"/>
              <a:t> </a:t>
            </a:r>
            <a:r>
              <a:rPr lang="en-US" dirty="0" err="1"/>
              <a:t>rửa</a:t>
            </a:r>
            <a:r>
              <a:rPr lang="en-US" dirty="0"/>
              <a:t> </a:t>
            </a:r>
            <a:r>
              <a:rPr lang="en-US" dirty="0" err="1"/>
              <a:t>trôi</a:t>
            </a:r>
            <a:r>
              <a:rPr lang="en-US" dirty="0"/>
              <a:t> </a:t>
            </a:r>
            <a:r>
              <a:rPr lang="en-US" dirty="0" err="1"/>
              <a:t>hết</a:t>
            </a:r>
            <a:r>
              <a:rPr lang="en-US" dirty="0"/>
              <a:t> </a:t>
            </a:r>
            <a:r>
              <a:rPr lang="en-US" dirty="0" err="1"/>
              <a:t>mực</a:t>
            </a:r>
            <a:r>
              <a:rPr lang="en-US" dirty="0"/>
              <a:t> in</a:t>
            </a:r>
            <a:endParaRPr lang="vi-VN" dirty="0"/>
          </a:p>
          <a:p>
            <a:r>
              <a:rPr lang="vi-VN" dirty="0"/>
              <a:t>Lớp đồng vàng sáng hiện ra theo đúng đường thiết kế.</a:t>
            </a:r>
          </a:p>
          <a:p>
            <a:r>
              <a:rPr lang="vi-VN" dirty="0"/>
              <a:t>Có thể quét một lớp nhựa thông loãng để mạch không bị Oxy hóa.</a:t>
            </a:r>
          </a:p>
          <a:p>
            <a:endParaRPr lang="vi-VN" sz="2800" dirty="0"/>
          </a:p>
        </p:txBody>
      </p:sp>
      <p:sp>
        <p:nvSpPr>
          <p:cNvPr id="6" name="Title 5">
            <a:extLst>
              <a:ext uri="{FF2B5EF4-FFF2-40B4-BE49-F238E27FC236}">
                <a16:creationId xmlns:a16="http://schemas.microsoft.com/office/drawing/2014/main" id="{6977D45F-9ABA-A9C5-046C-32804D79D4EC}"/>
              </a:ext>
            </a:extLst>
          </p:cNvPr>
          <p:cNvSpPr>
            <a:spLocks noGrp="1"/>
          </p:cNvSpPr>
          <p:nvPr>
            <p:ph type="title"/>
          </p:nvPr>
        </p:nvSpPr>
        <p:spPr>
          <a:xfrm>
            <a:off x="258445" y="-28258"/>
            <a:ext cx="10515600" cy="1325563"/>
          </a:xfrm>
        </p:spPr>
        <p:txBody>
          <a:bodyPr anchor="ctr">
            <a:normAutofit/>
          </a:bodyPr>
          <a:lstStyle/>
          <a:p>
            <a:r>
              <a:rPr lang="vi-VN" cap="all" dirty="0"/>
              <a:t>Bước 6: Chùi mực hoàn thiện</a:t>
            </a:r>
          </a:p>
        </p:txBody>
      </p:sp>
      <p:pic>
        <p:nvPicPr>
          <p:cNvPr id="4" name="Picture 3">
            <a:extLst>
              <a:ext uri="{FF2B5EF4-FFF2-40B4-BE49-F238E27FC236}">
                <a16:creationId xmlns:a16="http://schemas.microsoft.com/office/drawing/2014/main" id="{B7A60297-C896-F94C-5D8F-7FB9826FBC2F}"/>
              </a:ext>
            </a:extLst>
          </p:cNvPr>
          <p:cNvPicPr>
            <a:picLocks noChangeAspect="1"/>
          </p:cNvPicPr>
          <p:nvPr/>
        </p:nvPicPr>
        <p:blipFill>
          <a:blip r:embed="rId2"/>
          <a:stretch>
            <a:fillRect/>
          </a:stretch>
        </p:blipFill>
        <p:spPr>
          <a:xfrm>
            <a:off x="7183161" y="3778180"/>
            <a:ext cx="4975051" cy="2798466"/>
          </a:xfrm>
          <a:prstGeom prst="rect">
            <a:avLst/>
          </a:prstGeom>
        </p:spPr>
      </p:pic>
    </p:spTree>
    <p:extLst>
      <p:ext uri="{BB962C8B-B14F-4D97-AF65-F5344CB8AC3E}">
        <p14:creationId xmlns:p14="http://schemas.microsoft.com/office/powerpoint/2010/main" val="82949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2085F-4432-C3A9-F3A8-E27975B19C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5532812-378E-4EC8-CFF8-D9460B4723D3}"/>
              </a:ext>
            </a:extLst>
          </p:cNvPr>
          <p:cNvSpPr>
            <a:spLocks noGrp="1"/>
          </p:cNvSpPr>
          <p:nvPr>
            <p:ph type="title"/>
          </p:nvPr>
        </p:nvSpPr>
        <p:spPr>
          <a:xfrm>
            <a:off x="258445" y="-28258"/>
            <a:ext cx="10515600" cy="1325563"/>
          </a:xfrm>
        </p:spPr>
        <p:txBody>
          <a:bodyPr anchor="ctr">
            <a:normAutofit/>
          </a:bodyPr>
          <a:lstStyle/>
          <a:p>
            <a:r>
              <a:rPr lang="en-US" cap="all" dirty="0"/>
              <a:t>Thành </a:t>
            </a:r>
            <a:r>
              <a:rPr lang="en-US" cap="all" dirty="0" err="1"/>
              <a:t>quả</a:t>
            </a:r>
            <a:endParaRPr lang="vi-VN" cap="all" dirty="0"/>
          </a:p>
        </p:txBody>
      </p:sp>
      <p:pic>
        <p:nvPicPr>
          <p:cNvPr id="8" name="Picture 7">
            <a:extLst>
              <a:ext uri="{FF2B5EF4-FFF2-40B4-BE49-F238E27FC236}">
                <a16:creationId xmlns:a16="http://schemas.microsoft.com/office/drawing/2014/main" id="{66D1B2FE-F921-A347-FDB8-BE25FE048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531" y="1234923"/>
            <a:ext cx="6117229" cy="4602259"/>
          </a:xfrm>
          <a:prstGeom prst="rect">
            <a:avLst/>
          </a:prstGeom>
        </p:spPr>
      </p:pic>
    </p:spTree>
    <p:extLst>
      <p:ext uri="{BB962C8B-B14F-4D97-AF65-F5344CB8AC3E}">
        <p14:creationId xmlns:p14="http://schemas.microsoft.com/office/powerpoint/2010/main" val="3660992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627CD-F23D-504D-DF6D-9472E383947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14469AA-D120-2A75-4FAD-F6D10A3948EC}"/>
              </a:ext>
            </a:extLst>
          </p:cNvPr>
          <p:cNvPicPr>
            <a:picLocks noChangeAspect="1"/>
          </p:cNvPicPr>
          <p:nvPr/>
        </p:nvPicPr>
        <p:blipFill>
          <a:blip r:embed="rId2"/>
          <a:stretch>
            <a:fillRect/>
          </a:stretch>
        </p:blipFill>
        <p:spPr>
          <a:xfrm>
            <a:off x="683973" y="1468162"/>
            <a:ext cx="10090071" cy="3053575"/>
          </a:xfrm>
          <a:prstGeom prst="rect">
            <a:avLst/>
          </a:prstGeom>
        </p:spPr>
      </p:pic>
      <p:sp>
        <p:nvSpPr>
          <p:cNvPr id="6" name="Title 5">
            <a:extLst>
              <a:ext uri="{FF2B5EF4-FFF2-40B4-BE49-F238E27FC236}">
                <a16:creationId xmlns:a16="http://schemas.microsoft.com/office/drawing/2014/main" id="{D9B51937-4F13-72FF-C920-3895C797FFF4}"/>
              </a:ext>
            </a:extLst>
          </p:cNvPr>
          <p:cNvSpPr>
            <a:spLocks noGrp="1"/>
          </p:cNvSpPr>
          <p:nvPr>
            <p:ph type="title"/>
          </p:nvPr>
        </p:nvSpPr>
        <p:spPr>
          <a:xfrm>
            <a:off x="258445" y="-28258"/>
            <a:ext cx="10515600" cy="1325563"/>
          </a:xfrm>
        </p:spPr>
        <p:txBody>
          <a:bodyPr anchor="ctr">
            <a:normAutofit/>
          </a:bodyPr>
          <a:lstStyle/>
          <a:p>
            <a:r>
              <a:rPr lang="vi-VN" cap="all" dirty="0"/>
              <a:t>Các lỗi sai cơ bản thường gặp</a:t>
            </a:r>
          </a:p>
        </p:txBody>
      </p:sp>
    </p:spTree>
    <p:extLst>
      <p:ext uri="{BB962C8B-B14F-4D97-AF65-F5344CB8AC3E}">
        <p14:creationId xmlns:p14="http://schemas.microsoft.com/office/powerpoint/2010/main" val="1250080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401CC-94D1-AB29-EA6E-38E4340FAFB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517013-63A8-2844-A0A4-ABC3ED93B60F}"/>
              </a:ext>
            </a:extLst>
          </p:cNvPr>
          <p:cNvSpPr>
            <a:spLocks noGrp="1"/>
          </p:cNvSpPr>
          <p:nvPr>
            <p:ph type="title"/>
          </p:nvPr>
        </p:nvSpPr>
        <p:spPr>
          <a:xfrm>
            <a:off x="258445" y="-28258"/>
            <a:ext cx="10515600" cy="1325563"/>
          </a:xfrm>
        </p:spPr>
        <p:txBody>
          <a:bodyPr anchor="ctr">
            <a:normAutofit/>
          </a:bodyPr>
          <a:lstStyle/>
          <a:p>
            <a:r>
              <a:rPr lang="en-US" cap="all" dirty="0"/>
              <a:t>Lưu ý </a:t>
            </a:r>
            <a:r>
              <a:rPr lang="en-US" cap="all" dirty="0" err="1"/>
              <a:t>quan</a:t>
            </a:r>
            <a:r>
              <a:rPr lang="en-US" cap="all" dirty="0"/>
              <a:t> </a:t>
            </a:r>
            <a:r>
              <a:rPr lang="en-US" cap="all" dirty="0" err="1"/>
              <a:t>trọng</a:t>
            </a:r>
            <a:r>
              <a:rPr lang="en-US" cap="all" dirty="0"/>
              <a:t> </a:t>
            </a:r>
            <a:r>
              <a:rPr lang="en-US" cap="all" dirty="0" err="1"/>
              <a:t>khi</a:t>
            </a:r>
            <a:r>
              <a:rPr lang="en-US" cap="all" dirty="0"/>
              <a:t> </a:t>
            </a:r>
            <a:r>
              <a:rPr lang="en-US" cap="all" dirty="0" err="1"/>
              <a:t>làm</a:t>
            </a:r>
            <a:r>
              <a:rPr lang="en-US" cap="all" dirty="0"/>
              <a:t> </a:t>
            </a:r>
            <a:r>
              <a:rPr lang="en-US" cap="all" dirty="0" err="1"/>
              <a:t>mạch</a:t>
            </a:r>
            <a:endParaRPr lang="vi-VN" cap="all" dirty="0"/>
          </a:p>
        </p:txBody>
      </p:sp>
      <p:pic>
        <p:nvPicPr>
          <p:cNvPr id="3" name="Picture 2">
            <a:extLst>
              <a:ext uri="{FF2B5EF4-FFF2-40B4-BE49-F238E27FC236}">
                <a16:creationId xmlns:a16="http://schemas.microsoft.com/office/drawing/2014/main" id="{AED21D8B-CED9-747C-1C3A-0D190059C086}"/>
              </a:ext>
            </a:extLst>
          </p:cNvPr>
          <p:cNvPicPr>
            <a:picLocks noChangeAspect="1"/>
          </p:cNvPicPr>
          <p:nvPr/>
        </p:nvPicPr>
        <p:blipFill>
          <a:blip r:embed="rId2"/>
          <a:stretch>
            <a:fillRect/>
          </a:stretch>
        </p:blipFill>
        <p:spPr>
          <a:xfrm>
            <a:off x="528145" y="1604726"/>
            <a:ext cx="9719441" cy="3680225"/>
          </a:xfrm>
          <a:prstGeom prst="rect">
            <a:avLst/>
          </a:prstGeom>
        </p:spPr>
      </p:pic>
    </p:spTree>
    <p:extLst>
      <p:ext uri="{BB962C8B-B14F-4D97-AF65-F5344CB8AC3E}">
        <p14:creationId xmlns:p14="http://schemas.microsoft.com/office/powerpoint/2010/main" val="3274282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912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UTM Caviar"/>
        <a:ea typeface=""/>
        <a:cs typeface=""/>
      </a:majorFont>
      <a:minorFont>
        <a:latin typeface="VNF-Caviar Dreams"/>
        <a:ea typeface=""/>
        <a:cs typeface=""/>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noFill/>
        <a:noFill/>
        <a:no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800</Words>
  <Application>Microsoft Office PowerPoint</Application>
  <PresentationFormat>Widescreen</PresentationFormat>
  <Paragraphs>64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UD Digi Kyokasho NK-B</vt:lpstr>
      <vt:lpstr>Aptos</vt:lpstr>
      <vt:lpstr>Arial</vt:lpstr>
      <vt:lpstr>Roboto</vt:lpstr>
      <vt:lpstr>UTM Caviar</vt:lpstr>
      <vt:lpstr>1_Office Theme</vt:lpstr>
      <vt:lpstr>QUY TRÌNH LÀM MẠCH PCB THỦ CÔNG </vt:lpstr>
      <vt:lpstr>Trọng tâm: Mạch sử dụng IC NE555 </vt:lpstr>
      <vt:lpstr>DỤNG CỤ GIA CÔNG</vt:lpstr>
      <vt:lpstr>Phíp Đồng (Copper Clad Board) </vt:lpstr>
      <vt:lpstr>Giấy nhám &amp; Giấy in mạch </vt:lpstr>
      <vt:lpstr>Máy khoan &amp; Bột sắt ngâm </vt:lpstr>
      <vt:lpstr>BƯỚC 1: CHÀ BÓNG MẠCH ĐIỆN</vt:lpstr>
      <vt:lpstr>Bước 2: Ủi mạch nhiệt</vt:lpstr>
      <vt:lpstr>Bước 3: Kỹ thuật khoan lỗ chuẩn</vt:lpstr>
      <vt:lpstr>Bước 4: Đồ bút lông &amp; Bước 5: Rửa mạch</vt:lpstr>
      <vt:lpstr>Bước 6: Chùi mực hoàn thiện</vt:lpstr>
      <vt:lpstr>Thành quả</vt:lpstr>
      <vt:lpstr>Các lỗi sai cơ bản thường gặp</vt:lpstr>
      <vt:lpstr>Lưu ý quan trọng khi làm mạch</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QUOC THANG</dc:creator>
  <cp:lastModifiedBy>NGUYỄN TẤN TÀI</cp:lastModifiedBy>
  <cp:revision>26</cp:revision>
  <dcterms:created xsi:type="dcterms:W3CDTF">2024-04-20T17:26:00Z</dcterms:created>
  <dcterms:modified xsi:type="dcterms:W3CDTF">2026-06-29T15:58:13Z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6A0498FBA51042839BD32400BA7DE319_12</vt:lpwstr>
  </property>
  <property fmtid="{D5CDD505-2E9C-101B-9397-08002B2CF9AE}" pid="3" name="KSOProductBuildVer">
    <vt:lpwstr>1033-12.2.0.16731</vt:lpwstr>
  </property>
  <property fmtid="{D5CDD505-2E9C-101B-9397-08002B2CF9AE}" pid="4" name="MSIP_Label_defa4170-0d19-0005-0004-bc88714345d2_Enabled">
    <vt:lpwstr>true</vt:lpwstr>
  </property>
  <property fmtid="{D5CDD505-2E9C-101B-9397-08002B2CF9AE}" pid="5" name="MSIP_Label_defa4170-0d19-0005-0004-bc88714345d2_SetDate">
    <vt:lpwstr>2026-06-06T18:05:28Z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458f29e5-d89a-476f-aa21-780d8ca48c51</vt:lpwstr>
  </property>
  <property fmtid="{D5CDD505-2E9C-101B-9397-08002B2CF9AE}" pid="9" name="MSIP_Label_defa4170-0d19-0005-0004-bc88714345d2_ActionId">
    <vt:lpwstr>31f2889f-ab95-4de5-b342-60a1efc9d768</vt:lpwstr>
  </property>
  <property fmtid="{D5CDD505-2E9C-101B-9397-08002B2CF9AE}" pid="10" name="MSIP_Label_defa4170-0d19-0005-0004-bc88714345d2_ContentBits">
    <vt:lpwstr>0</vt:lpwstr>
  </property>
  <property fmtid="{D5CDD505-2E9C-101B-9397-08002B2CF9AE}" pid="11" name="MSIP_Label_defa4170-0d19-0005-0004-bc88714345d2_Tag">
    <vt:lpwstr>10, 3, 0, 1</vt:lpwstr>
  </property>
</Properties>
</file>